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2" Type="http://schemas.openxmlformats.org/officeDocument/2006/relationships/viewProps" Target="viewProps.xml" /><Relationship Id="rId9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4" Type="http://schemas.openxmlformats.org/officeDocument/2006/relationships/tableStyles" Target="tableStyles.xml" /><Relationship Id="rId9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Fractional Brownian Motions in Financial Models and Their Monte Carlo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Kijima &amp; Tam (2013)</a:t>
            </a:r>
            <a:br/>
            <a:br/>
            <a:r>
              <a:rPr/>
              <a:t>Neil Mascarenhas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Motivating Fractional Brownian Motion</a:t>
            </a:r>
          </a:p>
          <a:p>
            <a:pPr lvl="0" indent="-342900" marL="342900">
              <a:buAutoNum type="arabicPeriod"/>
            </a:pPr>
            <a:r>
              <a:rPr/>
              <a:t>Methods of Simulating</a:t>
            </a:r>
          </a:p>
          <a:p>
            <a:pPr lvl="0" indent="-342900" marL="342900">
              <a:buAutoNum type="arabicPeriod"/>
            </a:pPr>
            <a:r>
              <a:rPr/>
              <a:t>Finance example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Fractional Brownian Motion?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Traditional stochastic volatility models can’t capture volatility persistence</a:t>
            </a:r>
          </a:p>
          <a:p>
            <a:pPr lvl="0"/>
            <a:r>
              <a:rPr/>
              <a:t>Implied volatility smile decays too quickly (geometric decay)</a:t>
            </a:r>
          </a:p>
          <a:p>
            <a:pPr lvl="0"/>
            <a:r>
              <a:rPr/>
              <a:t>Market data shows much slower decay (hyperbolic) - called </a:t>
            </a:r>
            <a:r>
              <a:rPr b="1"/>
              <a:t>long-range dependence</a:t>
            </a:r>
          </a:p>
          <a:p>
            <a:pPr lvl="0"/>
            <a:r>
              <a:rPr/>
              <a:t>Need a process that retains Gaussian structure but exhibits memory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Solution:</a:t>
                </a:r>
                <a:r>
                  <a:rPr/>
                  <a:t> Use Fractional Brownian Motion (fBM) with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0"/>
                <a:r>
                  <a:rPr/>
                  <a:t>Extends ordinary Brownian motion to capture long memory</a:t>
                </a:r>
              </a:p>
              <a:p>
                <a:pPr lvl="0"/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: persistent (trending) behavior</a:t>
                </a:r>
              </a:p>
              <a:p>
                <a:pPr lvl="0"/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0.5</m:t>
                    </m:r>
                  </m:oMath>
                </a14:m>
                <a:r>
                  <a:rPr/>
                  <a:t>: mean-reverting behavior (anti-persistent, “rougher” than BM)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Random Walks to Brownian Motion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Random Walk</a:t>
                </a:r>
              </a:p>
              <a:p>
                <a:pPr lvl="0" indent="0" marL="0">
                  <a:buNone/>
                </a:pPr>
                <a:r>
                  <a:rPr/>
                  <a:t>Start with a simple symmetric random walk: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,</m:t>
                    </m:r>
                    <m:r>
                      <m:t> 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d>
                      <m:dPr>
                        <m:begChr m:val="{"/>
                        <m:endChr m:val=""/>
                        <m:sep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  <m:sSub>
                      <m:e>
                        <m:r>
                          <m:t>S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t>t</m:t>
                            </m:r>
                          </m:e>
                        </m:d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As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, by Central Limit Theorem: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limUpp>
                      <m:e>
                        <m:r>
                          <m:rPr>
                            <m:sty m:val="p"/>
                          </m:rPr>
                          <m:t>→</m:t>
                        </m:r>
                      </m:e>
                      <m:lim>
                        <m:r>
                          <m:t>d</m:t>
                        </m:r>
                      </m:lim>
                    </m:limUpp>
                    <m:r>
                      <m:rPr>
                        <m:nor/>
                        <m:sty m:val="p"/>
                      </m:rPr>
                      <m:t>Standard Brownian Motion</m:t>
                    </m:r>
                  </m:oMath>
                </a14:m>
                <a:r>
                  <a:rPr/>
                  <a:t>, i.e. Brownian motion is the </a:t>
                </a:r>
                <a:r>
                  <a:rPr b="1"/>
                  <a:t>scaling limit</a:t>
                </a:r>
                <a:r>
                  <a:rPr/>
                  <a:t> of a simple random walk.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/>
                  <a:t>Increments are independent: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s</m:t>
                        </m:r>
                      </m:e>
                    </m:d>
                    <m:r>
                      <m:rPr>
                        <m:sty m:val="p"/>
                      </m:rPr>
                      <m:t>⊥</m:t>
                    </m:r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s</m:t>
                        </m:r>
                      </m:e>
                    </m:d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s</m:t>
                    </m:r>
                  </m:oMath>
                </a14:m>
              </a:p>
              <a:p>
                <a:pPr lvl="0"/>
                <a:r>
                  <a:rPr/>
                  <a:t>Variance: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Var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B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t</m:t>
                    </m:r>
                  </m:oMath>
                </a14:m>
              </a:p>
              <a:p>
                <a:pPr lvl="0"/>
                <a:r>
                  <a:rPr/>
                  <a:t>Self-similar: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  <m:r>
                          <m:t>t</m:t>
                        </m:r>
                      </m:e>
                    </m:d>
                    <m:limUpp>
                      <m:e>
                        <m:r>
                          <m:rPr>
                            <m:sty m:val="p"/>
                          </m:rPr>
                          <m:t>→</m:t>
                        </m:r>
                      </m:e>
                      <m:lim>
                        <m:r>
                          <m:t>d</m:t>
                        </m:r>
                      </m:lim>
                    </m:limUpp>
                    <m:rad>
                      <m:radPr>
                        <m:degHide m:val="on"/>
                      </m:radPr>
                      <m:deg/>
                      <m:e>
                        <m:r>
                          <m:t>λ</m:t>
                        </m:r>
                      </m:e>
                    </m:rad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Correlated Random Walk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H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H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Sup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H</m:t>
                        </m:r>
                      </m:sup>
                    </m:sSubSup>
                  </m:oMath>
                </a14:m>
                <a:r>
                  <a:rPr/>
                  <a:t> are </a:t>
                </a:r>
                <a:r>
                  <a:rPr b="1"/>
                  <a:t>dependent</a:t>
                </a:r>
                <a:r>
                  <a:rPr/>
                  <a:t>, not independent</a:t>
                </a:r>
              </a:p>
              <a:p>
                <a:pPr lvl="0" indent="0" marL="0">
                  <a:buNone/>
                </a:pPr>
                <a:r>
                  <a:rPr b="1"/>
                  <a:t>Autocorrelation structure: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  <m:scr m:val="double-struck"/>
                              </m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sepChr m:val=""/>
                                <m:grow/>
                              </m:dPr>
                              <m:e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  <m:sup>
                                    <m:r>
                                      <m:t>H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m:t>⋅</m:t>
                                </m:r>
                                <m:sSubSup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k</m:t>
                                    </m:r>
                                  </m:sub>
                                  <m:sup>
                                    <m:r>
                                      <m:t>H</m:t>
                                    </m:r>
                                  </m:sup>
                                </m:sSubSup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sepChr m:val=""/>
                                <m:grow/>
                              </m:dPr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+</m:t>
                                        </m:r>
                                        <m: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2</m:t>
                                </m:r>
                                <m:sSup>
                                  <m:e>
                                    <m:r>
                                      <m:t>k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B</m:t>
                                </m:r>
                              </m:e>
                              <m:sup>
                                <m:r>
                                  <m:t>H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t>N</m:t>
                                    </m:r>
                                  </m:e>
                                  <m:sup>
                                    <m:r>
                                      <m:t>H</m:t>
                                    </m:r>
                                  </m:sup>
                                </m:sSup>
                              </m:den>
                            </m:f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d>
                                  <m:dPr>
                                    <m:begChr m:val="["/>
                                    <m:endChr m:val="]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t>t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m:t>H</m:t>
                                </m:r>
                              </m:sup>
                            </m:sSubSup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As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t>B</m:t>
                        </m:r>
                      </m:e>
                      <m:sup>
                        <m:r>
                          <m:t>H</m:t>
                        </m:r>
                      </m:sup>
                    </m:sSup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limUpp>
                      <m:e>
                        <m:r>
                          <m:rPr>
                            <m:sty m:val="p"/>
                          </m:rPr>
                          <m:t>→</m:t>
                        </m:r>
                      </m:e>
                      <m:lim>
                        <m:r>
                          <m:t>d</m:t>
                        </m:r>
                      </m:lim>
                    </m:limUpp>
                    <m:r>
                      <m:rPr>
                        <m:nor/>
                        <m:sty m:val="p"/>
                      </m:rPr>
                      <m:t>Fractional Brownian Motion with Hurst exponent </m:t>
                    </m:r>
                    <m:r>
                      <m:t>H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Key difference:</a:t>
                </a:r>
                <a:r>
                  <a:rPr/>
                  <a:t> -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</m:oMath>
                </a14:m>
                <a:r>
                  <a:rPr/>
                  <a:t>: Standard BM (no correlation) -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: </a:t>
                </a:r>
                <a:r>
                  <a:rPr b="1"/>
                  <a:t>Persistent</a:t>
                </a:r>
                <a:r>
                  <a:rPr/>
                  <a:t> - positive correlation in increments -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0.5</m:t>
                    </m:r>
                  </m:oMath>
                </a14:m>
                <a:r>
                  <a:rPr/>
                  <a:t>: </a:t>
                </a:r>
                <a:r>
                  <a:rPr b="1"/>
                  <a:t>Mean-reverting</a:t>
                </a:r>
                <a:r>
                  <a:rPr/>
                  <a:t> - negative correlation in increments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 Fractional Brownian Motion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Fractional Brownian Motion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 with Hurst exponent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∈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is a </a:t>
                </a:r>
                <a:r>
                  <a:rPr b="1"/>
                  <a:t>continuous, centered Gaussian process</a:t>
                </a:r>
                <a:r>
                  <a:rPr/>
                  <a:t> with covariance: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  <m:scr m:val="double-struck"/>
                              </m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t</m:t>
                                    </m:r>
                                  </m:e>
                                </m:d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H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s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t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sSup>
                                  <m:e>
                                    <m:r>
                                      <m:t>s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s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t>2</m:t>
                                    </m:r>
                                    <m:r>
                                      <m:t>H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Covariance of increments: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Cov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sepChr m:val="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j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m:t>∼</m:t>
                            </m:r>
                            <m:r>
                              <m:t>H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  <m: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|"/>
                                    <m:endChr m:val="|"/>
                                    <m:sepChr m:val="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j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t>2</m:t>
                                </m:r>
                                <m: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  <m:sty m:val="p"/>
                              </m:rPr>
                              <m:t> as </m:t>
                            </m:r>
                            <m:d>
                              <m:dPr>
                                <m:begChr m:val="|"/>
                                <m:endChr m:val="|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j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rPr>
                                <m:sty m:val="p"/>
                              </m:rPr>
                              <m:t>∞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Key Properties: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Self-similarity</a:t>
                </a:r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  <m:r>
                          <m:t>t</m:t>
                        </m:r>
                      </m:e>
                    </m:d>
                    <m:limUpp>
                      <m:e>
                        <m:r>
                          <m:rPr>
                            <m:sty m:val="p"/>
                          </m:rPr>
                          <m:t>→</m:t>
                        </m:r>
                      </m:e>
                      <m:lim>
                        <m:r>
                          <m:t>d</m:t>
                        </m:r>
                      </m:lim>
                    </m:limUpp>
                    <m:sSup>
                      <m:e>
                        <m:r>
                          <m:t>λ</m:t>
                        </m:r>
                      </m:e>
                      <m:sup>
                        <m:r>
                          <m:t>H</m:t>
                        </m:r>
                      </m:sup>
                    </m:sSup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Stationary increments</a:t>
                </a:r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s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s</m:t>
                        </m:r>
                      </m:e>
                    </m:d>
                    <m:limUpp>
                      <m:e>
                        <m:r>
                          <m:rPr>
                            <m:sty m:val="p"/>
                          </m:rPr>
                          <m:t>→</m:t>
                        </m:r>
                      </m:e>
                      <m:lim>
                        <m:r>
                          <m:t>d</m:t>
                        </m:r>
                      </m:lim>
                    </m:limUpp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Gaussian structure</a:t>
                </a:r>
                <a:r>
                  <a:rPr/>
                  <a:t>: Maintains tractability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Variance scaling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Var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B</m:t>
                            </m:r>
                          </m:e>
                          <m:sub>
                            <m:r>
                              <m:t>H</m:t>
                            </m:r>
                          </m:sub>
                        </m:sSub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  <m:r>
                          <m:t>H</m:t>
                        </m:r>
                      </m:sup>
                    </m:sSup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Long-range dependence</a:t>
                </a:r>
                <a:r>
                  <a:rPr/>
                  <a:t> (only when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/fig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Blackout - Dan Holdsworth (2010)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in Analytical Pricing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Why fBM is challenging in finance:</a:t>
                </a:r>
              </a:p>
              <a:p>
                <a:pPr lvl="0"/>
                <a:r>
                  <a:rPr b="1"/>
                  <a:t>Not a semimartingale</a:t>
                </a:r>
                <a:r>
                  <a:rPr/>
                  <a:t> unless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</m:oMath>
                </a14:m>
              </a:p>
              <a:p>
                <a:pPr lvl="1"/>
                <a:r>
                  <a:rPr/>
                  <a:t>No standard Itô calculus</a:t>
                </a:r>
              </a:p>
              <a:p>
                <a:pPr lvl="1"/>
                <a:r>
                  <a:rPr/>
                  <a:t>Need Malliavin methods or simulation</a:t>
                </a:r>
              </a:p>
              <a:p>
                <a:pPr lvl="0"/>
                <a:r>
                  <a:rPr b="1"/>
                  <a:t>Model validation via Monte Carlo</a:t>
                </a:r>
              </a:p>
              <a:p>
                <a:pPr lvl="1"/>
                <a:r>
                  <a:rPr/>
                  <a:t>Estimate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, calibrate, test pricing</a:t>
                </a:r>
              </a:p>
              <a:p>
                <a:pPr lvl="0"/>
                <a:r>
                  <a:rPr b="1"/>
                  <a:t>Need to simulate paths</a:t>
                </a:r>
                <a:r>
                  <a:rPr/>
                  <a:t> for:</a:t>
                </a:r>
              </a:p>
              <a:p>
                <a:pPr lvl="1"/>
                <a:r>
                  <a:rPr/>
                  <a:t>Risk, volatility, estimation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Simulating fBM for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 (persistent/long-memory case)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1: Hosking Algorithm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Idea:</a:t>
                </a:r>
                <a:r>
                  <a:rPr/>
                  <a:t> Sequentially sample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given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0</m:t>
                        </m:r>
                        <m:r>
                          <m:rPr>
                            <m:sty m:val="p"/>
                          </m:rPr>
                          <m:t>: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. Build fBM by summation.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Hosking Algorithm: Covariance and Conditioning</a:t>
                </a:r>
              </a:p>
              <a:p>
                <a:pPr lvl="0" indent="0" marL="0">
                  <a:buNone/>
                </a:pPr>
                <a:r>
                  <a:rPr/>
                  <a:t>Autocovariance </a:t>
                </a:r>
                <a14:m>
                  <m:oMath xmlns:m="http://schemas.openxmlformats.org/officeDocument/2006/math">
                    <m:r>
                      <m:t>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k</m:t>
                        </m:r>
                      </m:e>
                    </m:d>
                  </m:oMath>
                </a14:m>
                <a:r>
                  <a:rPr/>
                  <a:t>, Toeplitz block: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Γ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γ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j</m:t>
                                </m:r>
                              </m:e>
                            </m:d>
                            <m:sSubSup>
                              <m:e>
                                <m:r>
                                  <m:rPr>
                                    <m:sty m:val="p"/>
                                  </m:rPr>
                                  <m:t>}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</m:t>
                            </m:r>
                            <m:sSup>
                              <m:e>
                                <m:r>
                                  <m:t>Γ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center"/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mcJc m:val="center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m:t>1</m:t>
                                      </m:r>
                                    </m:e>
                                    <m:e>
                                      <m:sSup>
                                        <m:e>
                                          <m:r>
                                            <m:t>c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  <m:r>
                                            <m:t>​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⊤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e>
                                          <m:r>
                                            <m:t>c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  <m:e>
                                      <m:sSup>
                                        <m:e>
                                          <m:r>
                                            <m:t>Γ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d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</m:t>
                            </m:r>
                            <m:sSubSup>
                              <m:e>
                                <m:r>
                                  <m:t>c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bSup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γ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Conditional Gaussian: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μ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  <m:scr m:val="double-struck"/>
                              </m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t>​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​</m:t>
                                </m:r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: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r>
                                  <m:t>c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  <m:r>
                                  <m:t>​</m:t>
                                </m:r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p>
                                      <m:e>
                                        <m:r>
                                          <m:t>Γ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p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:</m:t>
                                </m:r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</m:e>
                        </m:mr>
                        <m:mr>
                          <m:e>
                            <m:sSubSup>
                              <m:e>
                                <m:r>
                                  <m:t>σ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V</m:t>
                            </m:r>
                            <m:r>
                              <m:rPr>
                                <m:sty m:val="p"/>
                              </m:rPr>
                              <m:t>a</m:t>
                            </m:r>
                            <m:r>
                              <m:rPr>
                                <m:sty m:val="p"/>
                              </m:rPr>
                              <m:t>r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t>​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t>​</m:t>
                                </m:r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:</m:t>
                                    </m:r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c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  <m:r>
                                  <m:t>​</m:t>
                                </m:r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p>
                                      <m:e>
                                        <m:r>
                                          <m:t>Γ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m:t>c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Hosking/Dieker Recursions (Formulas)</a:t>
                </a:r>
              </a:p>
              <a:p>
                <a:pPr lvl="0" indent="0" marL="0">
                  <a:buNone/>
                </a:pPr>
                <a:r>
                  <a:rPr/>
                  <a:t>Dieker/Hosking recursions: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d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p>
                                      <m:e>
                                        <m:r>
                                          <m:t>Γ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n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m:t>c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Γ</m:t>
                                </m:r>
                              </m:e>
                              <m:sup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+</m:t>
                                        </m:r>
                                        <m: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Sup>
                                  <m:e>
                                    <m:r>
                                      <m:t>σ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center"/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mcJc m:val="center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sSubSup>
                                        <m:e>
                                          <m: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t>n</m:t>
                                          </m:r>
                                        </m:sub>
                                        <m:sup>
                                          <m:r>
                                            <m:t>2</m:t>
                                          </m:r>
                                        </m:sup>
                                      </m:sSubSup>
                                      <m:sSup>
                                        <m:e>
                                          <m:r>
                                            <m:t>Γ</m:t>
                                          </m:r>
                                        </m:e>
                                        <m:sup>
                                          <m:sSup>
                                            <m:e>
                                              <m:d>
                                                <m:dPr>
                                                  <m:begChr m:val="("/>
                                                  <m:endChr m:val=")"/>
                                                  <m:sepChr m:val=""/>
                                                  <m:grow/>
                                                </m:dPr>
                                                <m:e>
                                                  <m:r>
                                                    <m:t>n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m:t>−</m:t>
                                              </m:r>
                                              <m:r>
                                                <m:t>1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sSup>
                                        <m:e>
                                          <m:r>
                                            <m:t>F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  <m:r>
                                            <m:t>​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⊤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F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m:t>F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  <m:r>
                                            <m:t>​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⊤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F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  <m:e>
                                      <m: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Hosking/Dieker Recursions (Updates)</a:t>
                </a:r>
              </a:p>
              <a:p>
                <a:pPr lvl="0" indent="0" marL="0">
                  <a:buNone/>
                </a:pPr>
                <a:r>
                  <a:rPr/>
                  <a:t>With: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Sup>
                              <m:e>
                                <m:r>
                                  <m:t>σ</m:t>
                                </m:r>
                              </m:e>
                              <m:sub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=</m:t>
                            </m:r>
                            <m:sSubSup>
                              <m:e>
                                <m:r>
                                  <m:t>σ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−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γ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τ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e>
                                    <m:r>
                                      <m:t>σ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m:t>,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τ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r>
                                  <m:t>d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  <m:r>
                                  <m:t>​</m:t>
                                </m:r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sSup>
                              <m:e>
                                <m:r>
                                  <m:t>F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sSup>
                              <m:e>
                                <m:r>
                                  <m:t>c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</m:t>
                            </m:r>
                            <m:sSub>
                              <m:e>
                                <m:r>
                                  <m:t>ϕ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γ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2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b>
                                  <m:e>
                                    <m:r>
                                      <m:t>τ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e>
                                    <m:r>
                                      <m:t>σ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m:rPr>
                                <m:sty m:val="p"/>
                              </m:rPr>
                              <m:t>,</m:t>
                            </m:r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d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center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t>ϕ</m:t>
                                          </m:r>
                                        </m:e>
                                        <m:sub>
                                          <m:r>
                                            <m:t>n</m:t>
                                          </m:r>
                                        </m:sub>
                                      </m:sSub>
                                      <m:sSup>
                                        <m:e>
                                          <m:r>
                                            <m:t>F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t>d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n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b>
                                        <m:e>
                                          <m:r>
                                            <m:t>ϕ</m:t>
                                          </m:r>
                                        </m:e>
                                        <m:sub>
                                          <m: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Intuition and Cost</a:t>
                </a:r>
              </a:p>
              <a:p>
                <a:pPr lvl="0" indent="0" marL="0">
                  <a:buNone/>
                </a:pPr>
                <a:r>
                  <a:rPr b="1"/>
                  <a:t>Intuition:</a:t>
                </a:r>
                <a:r>
                  <a:rPr/>
                  <a:t> Condition on the past. Update inverse covariance cheaply instead of full inversion.</a:t>
                </a:r>
              </a:p>
              <a:p>
                <a:pPr lvl="0" indent="0" marL="0">
                  <a:buNone/>
                </a:pPr>
                <a:r>
                  <a:rPr b="1"/>
                  <a:t>Cost: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 time.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Algorithm</a:t>
                </a:r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Desired sample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Setup:</a:t>
                </a:r>
              </a:p>
              <a:p>
                <a:pPr lvl="0"/>
                <a:r>
                  <a:rPr/>
                  <a:t>Compute autocovariance: </a:t>
                </a:r>
                <a14:m>
                  <m:oMath xmlns:m="http://schemas.openxmlformats.org/officeDocument/2006/math">
                    <m:r>
                      <m:t>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k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m:t>2</m:t>
                            </m:r>
                            <m:r>
                              <m:t>H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m:t>2</m:t>
                            </m:r>
                            <m:r>
                              <m:t>H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sSup>
                          <m:e>
                            <m:r>
                              <m:t>k</m:t>
                            </m:r>
                          </m:e>
                          <m:sup>
                            <m:r>
                              <m:t>2</m:t>
                            </m:r>
                            <m:r>
                              <m:t>H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0"/>
                <a:r>
                  <a:rPr/>
                  <a:t>Build covariance matrix: </a:t>
                </a:r>
                <a14:m>
                  <m:oMath xmlns:m="http://schemas.openxmlformats.org/officeDocument/2006/math">
                    <m:sSup>
                      <m:e>
                        <m:r>
                          <m:t>Γ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t>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j</m:t>
                            </m:r>
                          </m:e>
                        </m:d>
                      </m:e>
                    </m:d>
                    <m:sSubSup>
                      <m:e>
                        <m:r>
                          <m:rPr>
                            <m:sty m:val="p"/>
                          </m:rPr>
                          <m:t>}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sub>
                      <m:sup>
                        <m:r>
                          <m:t>n</m:t>
                        </m:r>
                      </m:sup>
                    </m:sSubSup>
                  </m:oMath>
                </a14:m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Recursion (for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 b="1"/>
                  <a:t>):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Compute conditional mean: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m:t>Γ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b"/>
                          </m:rPr>
                          <m:t>Z</m:t>
                        </m:r>
                      </m:e>
                      <m:sub>
                        <m:r>
                          <m:t>1</m:t>
                        </m:r>
                        <m:r>
                          <m:rPr>
                            <m:sty m:val="p"/>
                          </m:rPr>
                          <m:t>:</m:t>
                        </m:r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Compute conditional variance: </a:t>
                </a:r>
                <a14:m>
                  <m:oMath xmlns:m="http://schemas.openxmlformats.org/officeDocument/2006/math">
                    <m:sSubSup>
                      <m:e>
                        <m:r>
                          <m:t>σ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m:t>Γ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b"/>
                          </m:rPr>
                          <m:t>c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</m:sup>
                    </m:sSup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Sample: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μ</m:t>
                            </m:r>
                          </m:e>
                          <m:sub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Sup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Accumulate: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p>
                      <m:e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Exact method: captures complete covariance structure</a:t>
                </a:r>
                <a:br/>
              </a:p>
              <a:p>
                <a:pPr lvl="0"/>
                <a:r>
                  <a:rPr/>
                  <a:t>Works for any covariance structure (not just fBM)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Key Flaw: Computational Complexity</a:t>
                </a:r>
              </a:p>
              <a:p>
                <a:pPr lvl="0"/>
                <a:r>
                  <a:rPr b="1"/>
                  <a:t>Time complexity: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1"/>
                <a:r>
                  <a:rPr/>
                  <a:t>Must invert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N</m:t>
                    </m:r>
                  </m:oMath>
                </a14:m>
                <a:r>
                  <a:rPr/>
                  <a:t> matrix at each step</a:t>
                </a:r>
                <a:br/>
              </a:p>
              <a:p>
                <a:pPr lvl="1"/>
                <a:r>
                  <a:rPr/>
                  <a:t>Becomes prohibitive for large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(e.g.,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Optimization (Dieker, 2002):</a:t>
                </a:r>
              </a:p>
              <a:p>
                <a:pPr lvl="0" indent="0" marL="0">
                  <a:buNone/>
                </a:pPr>
                <a:r>
                  <a:rPr/>
                  <a:t>Recursively compute inverse without full recalculation: improves constant factor but still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Conclusion:</a:t>
                </a:r>
                <a:r>
                  <a:rPr/>
                  <a:t> Best for small to moderate sample sizes (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5000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2: Cholesky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Overview</a:t>
                </a:r>
              </a:p>
              <a:p>
                <a:pPr lvl="0" indent="0" marL="0">
                  <a:buNone/>
                </a:pPr>
                <a:r>
                  <a:rPr b="1"/>
                  <a:t>Idea:</a:t>
                </a:r>
                <a:r>
                  <a:rPr/>
                  <a:t> Use matrix decomposition </a:t>
                </a:r>
                <a14:m>
                  <m:oMath xmlns:m="http://schemas.openxmlformats.org/officeDocument/2006/math">
                    <m:r>
                      <m:t>Γ</m:t>
                    </m:r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 where </a:t>
                </a:r>
                <a14:m>
                  <m:oMath xmlns:m="http://schemas.openxmlformats.org/officeDocument/2006/math">
                    <m:r>
                      <m:t>L</m:t>
                    </m:r>
                  </m:oMath>
                </a14:m>
                <a:r>
                  <a:rPr/>
                  <a:t> is lower triangular</a:t>
                </a:r>
              </a:p>
              <a:p>
                <a:pPr lvl="0" indent="0" marL="0">
                  <a:buNone/>
                </a:pPr>
                <a:r>
                  <a:rPr/>
                  <a:t>Sample generation: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r>
                      <m:rPr>
                        <m:sty m:val="b"/>
                      </m:rPr>
                      <m:t>V</m:t>
                    </m:r>
                  </m:oMath>
                </a14:m>
                <a:r>
                  <a:rPr/>
                  <a:t> where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V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/>
                  <a:t>Covariance structure preserved: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Cov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b"/>
                          </m:rPr>
                          <m:t>Z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Γ</m:t>
                    </m:r>
                  </m:oMath>
                </a14:m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Algorithm</a:t>
                </a:r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Desired sample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Setup:</a:t>
                </a:r>
                <a:r>
                  <a:rPr/>
                  <a:t> - Build covariance matrix: </a:t>
                </a:r>
                <a14:m>
                  <m:oMath xmlns:m="http://schemas.openxmlformats.org/officeDocument/2006/math">
                    <m:sSup>
                      <m:e>
                        <m:r>
                          <m:t>Γ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</m:sup>
                    </m:sSup>
                  </m:oMath>
                </a14:m>
                <a:r>
                  <a:rPr/>
                  <a:t> with entries </a:t>
                </a:r>
                <a14:m>
                  <m:oMath xmlns:m="http://schemas.openxmlformats.org/officeDocument/2006/math">
                    <m:sSub>
                      <m:e>
                        <m:r>
                          <m:t>Γ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j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Decomposition: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Compute Cholesky decomposition: </a:t>
                </a:r>
                <a14:m>
                  <m:oMath xmlns:m="http://schemas.openxmlformats.org/officeDocument/2006/math">
                    <m:sSup>
                      <m:e>
                        <m:r>
                          <m:t>Γ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N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Generate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V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(i.i.d. standard normals)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Multiply: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r>
                      <m:rPr>
                        <m:sty m:val="b"/>
                      </m:rPr>
                      <m:t>V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Accumulate: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t</m:t>
                        </m:r>
                      </m:sup>
                      <m:e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Entry formulas for </a:t>
                </a:r>
                <a14:m>
                  <m:oMath xmlns:m="http://schemas.openxmlformats.org/officeDocument/2006/math">
                    <m:r>
                      <m:t>L</m:t>
                    </m:r>
                  </m:oMath>
                </a14:m>
                <a:r>
                  <a:rPr b="1"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Sup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i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γ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0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sub>
                              <m:sup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L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k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L</m:t>
                                    </m:r>
                                  </m:e>
                                  <m:sub>
                                    <m: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j</m:t>
                                    </m:r>
                                  </m:sub>
                                </m:sSub>
                              </m:den>
                            </m:f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γ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j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=</m:t>
                                    </m:r>
                                    <m:r>
                                      <m:t>0</m:t>
                                    </m:r>
                                  </m:sub>
                                  <m:sup>
                                    <m: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m:t>L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e>
                                    <m:r>
                                      <m:t>L</m:t>
                                    </m:r>
                                  </m:e>
                                  <m:sub>
                                    <m: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Exact method: complete covariance structure</a:t>
                </a:r>
              </a:p>
              <a:p>
                <a:pPr lvl="0"/>
                <a:r>
                  <a:rPr/>
                  <a:t>Easy to understand and implement</a:t>
                </a:r>
              </a:p>
              <a:p>
                <a:pPr lvl="0"/>
                <a:r>
                  <a:rPr b="1"/>
                  <a:t>Time complexity: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1"/>
                <a:r>
                  <a:rPr/>
                  <a:t>Cholesky decomposition itself is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 (Much worse than Hosking!)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FFT Method Algorithm (Davies-Harte Method)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Any circulant matrix can be decomposed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C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Q</m:t>
                            </m:r>
                            <m:r>
                              <m:t>A</m:t>
                            </m:r>
                            <m:sSup>
                              <m:e>
                                <m:r>
                                  <m:t>Q</m:t>
                                </m:r>
                              </m:e>
                              <m:sup>
                                <m:r>
                                  <m:t>T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the Fourier matrix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has entries: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Q</m:t>
                                    </m:r>
                                  </m:e>
                                </m:d>
                              </m:e>
                              <m:sub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r>
                                      <m:t>2</m:t>
                                    </m:r>
                                    <m:r>
                                      <m:t>N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m:t>exp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  <m:r>
                                  <m:t>π</m:t>
                                </m:r>
                                <m:r>
                                  <m:t>i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j</m:t>
                                    </m:r>
                                    <m:r>
                                      <m:t>k</m:t>
                                    </m:r>
                                  </m:num>
                                  <m:den>
                                    <m:r>
                                      <m:t>2</m:t>
                                    </m:r>
                                    <m:r>
                                      <m:t>N</m:t>
                                    </m:r>
                                  </m:den>
                                </m:f>
                              </m:e>
                            </m:d>
                            <m:r>
                              <m:t> 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for </m:t>
                            </m:r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matrix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is the diagonal matrix with eigenvalues: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sub>
                              <m:sup>
                                <m:r>
                                  <m:t>2</m:t>
                                </m:r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m:t>exp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  <m:r>
                                  <m:t>π</m:t>
                                </m:r>
                                <m:r>
                                  <m:t>i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j</m:t>
                                    </m:r>
                                    <m:r>
                                      <m:t>k</m:t>
                                    </m:r>
                                  </m:num>
                                  <m:den>
                                    <m:r>
                                      <m:t>2</m:t>
                                    </m:r>
                                    <m:r>
                                      <m:t>N</m:t>
                                    </m:r>
                                  </m:den>
                                </m:f>
                              </m:e>
                            </m:d>
                            <m:r>
                              <m:t> 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for </m:t>
                            </m:r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0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Algorithm:</a:t>
                </a:r>
                <a:r>
                  <a:rPr/>
                  <a:t> The simulation of the sample path of fGn using the FFT method consists of the following steps: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Compute eigenvalues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}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from the circulant covariance matrix by means of FFT. This will reduce the computational time from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Calculate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Q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 (or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Λ</m:t>
                        </m:r>
                      </m:e>
                    </m:rad>
                  </m:oMath>
                </a14:m>
                <a:r>
                  <a:rPr/>
                  <a:t> where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is diagonal with eigenvalues)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Generate</a:t>
                </a:r>
                <a:r>
                  <a:rPr/>
                  <a:t> two standard normal random variables: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V</m:t>
                        </m:r>
                      </m:e>
                      <m:sub>
                        <m:r>
                          <m:t>0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V</m:t>
                        </m:r>
                      </m:e>
                      <m:sub>
                        <m:r>
                          <m:t>N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</m:oMath>
                </a14:m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startAt="4" type="arabicPeriod"/>
                </a:pPr>
                <a:r>
                  <a:rPr b="1"/>
                  <a:t>For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j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</m:oMath>
                </a14:m>
                <a:r>
                  <a:rPr/>
                  <a:t>, generate two standard normal random variables </a:t>
                </a:r>
                <a14:m>
                  <m:oMath xmlns:m="http://schemas.openxmlformats.org/officeDocument/2006/math">
                    <m:sSubSup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m:t>V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r>
                  <a:rPr/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Sup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i</m:t>
                        </m:r>
                        <m:sSubSup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2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Sup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i</m:t>
                        </m:r>
                        <m:sSubSup>
                          <m:e>
                            <m:r>
                              <m:t>V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</a:p>
              <a:p>
                <a:pPr lvl="0" indent="-342900" marL="342900">
                  <a:buAutoNum startAt="4" type="arabicPeriod"/>
                </a:pPr>
                <a:r>
                  <a:rPr b="1"/>
                  <a:t>Compute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Q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t>W</m:t>
                    </m:r>
                  </m:oMath>
                </a14:m>
                <a:r>
                  <a:rPr/>
                  <a:t>. This can be seen as another Fourier transform of the vector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t>W</m:t>
                    </m:r>
                  </m:oMath>
                </a14:m>
                <a:r>
                  <a:rPr/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2</m:t>
                            </m:r>
                            <m:r>
                              <m:t>N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rad>
                      </m:e>
                    </m:nary>
                    <m:sSub>
                      <m:e>
                        <m:r>
                          <m:t>W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exp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π</m:t>
                        </m:r>
                        <m:r>
                          <m:t>i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j</m:t>
                            </m:r>
                            <m:r>
                              <m:t>k</m:t>
                            </m:r>
                          </m:num>
                          <m:den>
                            <m:r>
                              <m:t>2</m:t>
                            </m:r>
                            <m:r>
                              <m:t>N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identical to carry out FFT on the sequence on the next slide (too big to fit on this slide)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m:t> </m:t>
                                </m:r>
                                <m:sSub>
                                  <m:e>
                                    <m:r>
                                      <m:t>V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</m:radPr>
                                      <m:deg/>
                                      <m:e>
                                        <m: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m:t> 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bSup>
                                      <m:e>
                                        <m: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i</m:t>
                                    </m:r>
                                    <m:sSubSup>
                                      <m:e>
                                        <m: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2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≤</m:t>
                                </m:r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N</m:t>
                                </m:r>
                              </m:e>
                            </m:mr>
                            <m:mr>
                              <m:e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N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m:t> </m:t>
                                </m:r>
                                <m:sSub>
                                  <m:e>
                                    <m:r>
                                      <m:t>V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N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</m:radPr>
                                      <m:deg/>
                                      <m:e>
                                        <m: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sSub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m:t>2</m:t>
                                        </m:r>
                                        <m: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m:t> 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bSup>
                                      <m:e>
                                        <m: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t>2</m:t>
                                        </m:r>
                                        <m: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i</m:t>
                                    </m:r>
                                    <m:sSubSup>
                                      <m:e>
                                        <m: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t>2</m:t>
                                        </m:r>
                                        <m: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2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2</m:t>
                                </m:r>
                                <m:r>
                                  <m:t>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startAt="7" type="arabicPeriod"/>
                </a:pPr>
                <a:r>
                  <a:rPr/>
                  <a:t>Due to the symmetric nature of the sequence, the Fourier sum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sSubSup>
                      <m:e>
                        <m:r>
                          <m:rPr>
                            <m:sty m:val="p"/>
                          </m:rPr>
                          <m:t>}</m:t>
                        </m:r>
                      </m:e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bSup>
                  </m:oMath>
                </a14:m>
                <a:r>
                  <a:rPr/>
                  <a:t> is real. The first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samples have the desired covariance structure. Since the second half of samples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sty m:val="p"/>
                          </m:rPr>
                          <m:t>…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are not independent of the first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samples, this sample cannot be used.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B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Exploits circulant structure via FFT (divide-and-conquer)</a:t>
                </a:r>
              </a:p>
              <a:p>
                <a:pPr lvl="0"/>
                <a:r>
                  <a:rPr/>
                  <a:t>Diagonal matrix multiplication is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M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FFT itself is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M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Embedding creates artificial circulant structure</a:t>
                </a:r>
              </a:p>
              <a:p>
                <a:pPr lvl="1"/>
                <a:r>
                  <a:rPr/>
                  <a:t>Original covariance not perfectly preserved at boundaries</a:t>
                </a:r>
              </a:p>
              <a:p>
                <a:pPr lvl="1"/>
                <a:r>
                  <a:rPr/>
                  <a:t>Must check all eigenvalues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Λ</m:t>
                            </m:r>
                          </m:e>
                        </m:acc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for stability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Fix:</a:t>
                </a:r>
                <a:r>
                  <a:rPr/>
                  <a:t> Increase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(use larger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  <m:r>
                      <m:t>N</m:t>
                    </m:r>
                  </m:oMath>
                </a14:m>
                <a:r>
                  <a:rPr/>
                  <a:t> or more) to fix negative eigenvalues</a:t>
                </a:r>
              </a:p>
              <a:p>
                <a:pPr lvl="1"/>
                <a:r>
                  <a:rPr/>
                  <a:t>Increases memory and computation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Advantages over Hosking &amp; Cholesky:</a:t>
                </a:r>
              </a:p>
              <a:p>
                <a:pPr lvl="0"/>
                <a:r>
                  <a:rPr b="1"/>
                  <a:t>Time: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instead of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e>
                    </m:d>
                  </m:oMath>
                </a14:m>
              </a:p>
              <a:p>
                <a:pPr lvl="0"/>
                <a:r>
                  <a:rPr/>
                  <a:t>Fast for large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(practical for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  <a:r>
                  <a:rPr/>
                  <a:t>)</a:t>
                </a:r>
              </a:p>
              <a:p>
                <a:pPr lvl="0" indent="0" marL="0">
                  <a:buNone/>
                </a:pPr>
                <a:r>
                  <a:rPr b="1"/>
                  <a:t>Conclusion:</a:t>
                </a:r>
                <a:r>
                  <a:rPr/>
                  <a:t> Trade-off: slight covariance distortion, but gain massive speed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Approximate Methods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4: Correlated Random Walk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Recall:</a:t>
                </a:r>
                <a:r>
                  <a:rPr/>
                  <a:t> fBM is limit of scaled correlated random walk: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B</m:t>
                                </m:r>
                              </m:e>
                              <m:sup>
                                <m:r>
                                  <m:t>H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r>
                                  <m:t>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H</m:t>
                                </m:r>
                              </m:sup>
                            </m:sSup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sepChr m:val=""/>
                                    <m:grow/>
                                  </m:dPr>
                                  <m:e>
                                    <m:r>
                                      <m:t>N</m:t>
                                    </m:r>
                                    <m:r>
                                      <m:t>t</m:t>
                                    </m:r>
                                  </m:e>
                                </m:d>
                              </m:sup>
                              <m:e>
                                <m:sSubSup>
                                  <m:e>
                                    <m:r>
                                      <m:t>ϵ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H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Idea:</a:t>
                </a:r>
                <a:r>
                  <a:rPr/>
                  <a:t> Use </a:t>
                </a:r>
                <a:r>
                  <a:rPr b="1"/>
                  <a:t>finite aggregation</a:t>
                </a:r>
                <a:r>
                  <a:rPr/>
                  <a:t> with controlled error</a:t>
                </a:r>
              </a:p>
              <a:p>
                <a:pPr lvl="0" indent="0" marL="0">
                  <a:buNone/>
                </a:pPr>
                <a:r>
                  <a:rPr/>
                  <a:t>Generate correlated increments directly using central limit theorem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Algorithm</a:t>
                </a:r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Sample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, error tolerance </a:t>
                </a:r>
                <a14:m>
                  <m:oMath xmlns:m="http://schemas.openxmlformats.org/officeDocument/2006/math">
                    <m:sSub>
                      <m:e>
                        <m:r>
                          <m:t>ϵ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Determine aggregation level</a:t>
                </a:r>
              </a:p>
              <a:p>
                <a:pPr lvl="0"/>
                <a:r>
                  <a:rPr/>
                  <a:t>Compute </a:t>
                </a:r>
                <a14:m>
                  <m:oMath xmlns:m="http://schemas.openxmlformats.org/officeDocument/2006/math">
                    <m:r>
                      <m:t>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from error bound: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0.65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sSup>
                      <m:e>
                        <m:r>
                          <m:t>N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H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k</m:t>
                    </m:r>
                    <m:r>
                      <m:t>M</m:t>
                    </m:r>
                  </m:oMath>
                </a14:m>
              </a:p>
              <a:p>
                <a:pPr lvl="0"/>
                <a:r>
                  <a:rPr/>
                  <a:t>Choose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1</m:t>
                    </m:r>
                  </m:oMath>
                </a14:m>
                <a:r>
                  <a:rPr/>
                  <a:t> and solve for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</a:p>
              <a:p>
                <a:pPr lvl="0" indent="-342900" marL="342900">
                  <a:buAutoNum startAt="2" type="arabicPeriod"/>
                </a:pPr>
                <a:r>
                  <a:rPr/>
                  <a:t>Generate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correlated sequences For each trajectory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M</m:t>
                    </m:r>
                  </m:oMath>
                </a14:m>
                <a:r>
                  <a:rPr/>
                  <a:t>:</a:t>
                </a:r>
              </a:p>
              <a:p>
                <a:pPr lvl="0"/>
                <a:r>
                  <a:rPr/>
                  <a:t>Sample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Uniform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(i.i.d.)</a:t>
                </a:r>
              </a:p>
              <a:p>
                <a:pPr lvl="0"/>
                <a:r>
                  <a:rPr/>
                  <a:t>Compute weight: </a:t>
                </a:r>
                <a14:m>
                  <m:oMath xmlns:m="http://schemas.openxmlformats.org/officeDocument/2006/math">
                    <m:sSubSup>
                      <m:e>
                        <m:r>
                          <m:t>μ</m:t>
                        </m:r>
                      </m:e>
                      <m:sub>
                        <m:r>
                          <m:t>k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H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  <m:r>
                              <m:t>H</m:t>
                            </m:r>
                          </m:e>
                        </m:d>
                      </m:sup>
                    </m:sSup>
                  </m:oMath>
                </a14:m>
              </a:p>
            </p:txBody>
          </p:sp>
        </mc:Choice>
      </mc:AlternateContent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startAt="3" type="arabicPeriod"/>
                </a:pPr>
                <a:r>
                  <a:rPr/>
                  <a:t>Build correlated random walk For each time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/>
                <a:r>
                  <a:rPr/>
                  <a:t>Generate correlated sequence: </a:t>
                </a:r>
                <a14:m>
                  <m:oMath xmlns:m="http://schemas.openxmlformats.org/officeDocument/2006/math">
                    <m:sSub>
                      <m:e>
                        <m:r>
                          <m:t>ϵ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  <m:sty m:val="p"/>
                          </m:rPr>
                          <m:t>Bernoulli</m:t>
                        </m:r>
                      </m:sup>
                    </m:sSup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Accumulate: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t</m:t>
                        </m:r>
                      </m:sup>
                      <m:e>
                        <m:sSub>
                          <m:e>
                            <m:r>
                              <m:t>ϵ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  <a:p>
                <a:pPr lvl="0" indent="-342900" marL="342900">
                  <a:buAutoNum startAt="4" type="arabicPeriod"/>
                </a:pPr>
                <a:r>
                  <a:rPr/>
                  <a:t>Scale and accumulate</a:t>
                </a:r>
              </a:p>
              <a:p>
                <a:pPr lvl="0" indent="-342900" marL="342900">
                  <a:buAutoNum startAt="4" type="arabicPeriod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B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≈</m:t>
                            </m:r>
                            <m:sSub>
                              <m:e>
                                <m:r>
                                  <m:t>c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′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=</m:t>
                                    </m:r>
                                    <m:r>
                                      <m:t>1</m:t>
                                    </m:r>
                                  </m:sub>
                                  <m:sup>
                                    <m:r>
                                      <m:t>M</m:t>
                                    </m:r>
                                  </m:sup>
                                  <m:e>
                                    <m:sSubSup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endChr m:val=")"/>
                                            <m:sepChr m:val=""/>
                                            <m:grow/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m:t>μ</m:t>
                                                </m:r>
                                              </m:e>
                                              <m:sub>
                                                <m:r>
                                                  <m:t>j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sup>
                                    </m:sSubSup>
                                  </m:e>
                                </m:nary>
                              </m:num>
                              <m:den>
                                <m:r>
                                  <m:t>M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Explicit error bound from </a:t>
                </a:r>
                <a:r>
                  <a:rPr b="1"/>
                  <a:t>Berry-Esseen inequality</a:t>
                </a:r>
                <a:r>
                  <a:rPr/>
                  <a:t>: for sum of i.i.d. variables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,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sup</m:t>
                                </m:r>
                              </m:e>
                              <m:lim>
                                <m:r>
                                  <m:t>x</m:t>
                                </m:r>
                              </m:lim>
                            </m:limLow>
                            <m:d>
                              <m:dPr>
                                <m:begChr m:val="|"/>
                                <m:endChr m:val="|"/>
                                <m:sepChr m:val=""/>
                                <m:grow/>
                              </m:dPr>
                              <m:e>
                                <m:r>
                                  <m:t>P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f>
                                      <m:fPr>
                                        <m:type m:val="bar"/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m:t>n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  <m:scr m:val="double-struck"/>
                                          </m:rPr>
                                          <m:t>E</m:t>
                                        </m:r>
                                        <m:sSub>
                                          <m:e>
                                            <m: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m:t>n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</m:radPr>
                                          <m:deg/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m:t>V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m:t>a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m:t>r</m:t>
                                            </m:r>
                                            <m:r>
                                              <m:t> </m:t>
                                            </m:r>
                                            <m:sSub>
                                              <m:e>
                                                <m: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m:t>n</m:t>
                                                </m:r>
                                              </m:sub>
                                            </m:sSub>
                                          </m:e>
                                        </m:rad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m:t>≤</m:t>
                                    </m:r>
                                    <m: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Φ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x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m:t>≤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m:t>⋅</m:t>
                                </m:r>
                                <m:r>
                                  <m:rPr>
                                    <m:sty m:val="p"/>
                                    <m:scr m:val="double-struck"/>
                                  </m:rPr>
                                  <m:t>E</m:t>
                                </m:r>
                                <m:s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sepChr m:val="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V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a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r</m:t>
                                        </m:r>
                                        <m:r>
                                          <m:t> 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/</m:t>
                                    </m:r>
                                    <m:r>
                                      <m:t>2</m:t>
                                    </m:r>
                                  </m:sup>
                                </m:sSup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r>
                                      <m:t>n</m:t>
                                    </m:r>
                                  </m:e>
                                </m:rad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constant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≤</m:t>
                    </m:r>
                    <m:r>
                      <m:t>0.4748</m:t>
                    </m:r>
                  </m:oMath>
                </a14:m>
                <a:r>
                  <a:rPr/>
                  <a:t>), and </a:t>
                </a:r>
                <a14:m>
                  <m:oMath xmlns:m="http://schemas.openxmlformats.org/officeDocument/2006/math">
                    <m:r>
                      <m:t>Φ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is the standard normal cdf.</a:t>
                </a:r>
              </a:p>
              <a:p>
                <a:pPr lvl="0"/>
                <a:r>
                  <a:rPr/>
                  <a:t>Simple to implement: no matrix operations needed</a:t>
                </a:r>
              </a:p>
              <a:p>
                <a:pPr lvl="0"/>
                <a:r>
                  <a:rPr/>
                  <a:t>Covariance </a:t>
                </a:r>
                <a:r>
                  <a:rPr b="1"/>
                  <a:t>not fully captured</a:t>
                </a:r>
                <a:r>
                  <a:rPr/>
                  <a:t> at each level</a:t>
                </a: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 for large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</a:p>
              <a:p>
                <a:pPr lvl="0"/>
                <a:r>
                  <a:rPr/>
                  <a:t>Requires choosing parameters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e>
                    </m:d>
                  </m:oMath>
                </a14:m>
                <a:r>
                  <a:rPr/>
                  <a:t> based on tolerance</a:t>
                </a:r>
              </a:p>
              <a:p>
                <a:pPr lvl="0" indent="0" marL="0">
                  <a:buNone/>
                </a:pPr>
                <a:r>
                  <a:rPr b="1"/>
                  <a:t>Best for:</a:t>
                </a:r>
                <a:r>
                  <a:rPr/>
                  <a:t> Theoretical understanding, small-to-moderate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when error control matters</a:t>
                </a:r>
              </a:p>
            </p:txBody>
          </p:sp>
        </mc:Choice>
      </mc:AlternateContent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5: Random Midpoint Displacement (RMD)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Hybrid approach:</a:t>
                </a:r>
                <a:r>
                  <a:rPr/>
                  <a:t> Exact locally, but with bounded conditioning</a:t>
                </a:r>
              </a:p>
              <a:p>
                <a:pPr lvl="0" indent="0" marL="0">
                  <a:buNone/>
                </a:pPr>
                <a:r>
                  <a:rPr b="1"/>
                  <a:t>Idea:</a:t>
                </a:r>
                <a:r>
                  <a:rPr/>
                  <a:t> Instead of conditioning on </a:t>
                </a:r>
                <a:r>
                  <a:rPr b="1"/>
                  <a:t>all past values</a:t>
                </a:r>
                <a:r>
                  <a:rPr/>
                  <a:t>, condition on only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 b="1"/>
                  <a:t> left +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 b="1"/>
                  <a:t> right neighbors</a:t>
                </a:r>
              </a:p>
              <a:p>
                <a:pPr lvl="0" indent="0" marL="0">
                  <a:buNone/>
                </a:pPr>
                <a:r>
                  <a:rPr b="1"/>
                  <a:t>Intuition:</a:t>
                </a:r>
                <a:r>
                  <a:rPr/>
                  <a:t> Far-away values have little influence, exploit locality</a:t>
                </a:r>
              </a:p>
            </p:txBody>
          </p:sp>
        </mc:Choice>
      </mc:AlternateContent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Algorithm - Basic RMD(m,n)</a:t>
                </a:r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Sample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, parameters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</m:oMath>
                </a14:m>
                <a:r>
                  <a:rPr/>
                  <a:t> (neighborhood sizes)</a:t>
                </a:r>
              </a:p>
              <a:p>
                <a:pPr lvl="0" indent="0" marL="0">
                  <a:buNone/>
                </a:pPr>
                <a:r>
                  <a:rPr b="1"/>
                  <a:t>Bisection scheme (recursive):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Start with </a:t>
                </a:r>
                <a14:m>
                  <m:oMath xmlns:m="http://schemas.openxmlformats.org/officeDocument/2006/math">
                    <m:r>
                      <m:t>Z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∼</m:t>
                    </m:r>
                    <m:r>
                      <m:t>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At level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, compute midpoints in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i</m:t>
                        </m:r>
                      </m:sup>
                    </m:sSup>
                  </m:oMath>
                </a14:m>
                <a:r>
                  <a:rPr/>
                  <a:t> intervals</a:t>
                </a:r>
              </a:p>
            </p:txBody>
          </p:sp>
        </mc:Choice>
      </mc:AlternateContent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startAt="3" type="arabicPeriod"/>
                </a:pPr>
                <a:r>
                  <a:rPr/>
                  <a:t>For position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(odd-indexed in interval </a:t>
                </a:r>
                <a14:m>
                  <m:oMath xmlns:m="http://schemas.openxmlformats.org/officeDocument/2006/math">
                    <m:r>
                      <m:t>2</m:t>
                    </m:r>
                    <m:r>
                      <m:t>k</m:t>
                    </m:r>
                  </m:oMath>
                </a14:m>
                <a:r>
                  <a:rPr/>
                  <a:t>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2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μ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σ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e>
                            </m:d>
                            <m:sSub>
                              <m:e>
                                <m:r>
                                  <m:t>U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e>
                    </m:d>
                  </m:oMath>
                </a14:m>
                <a:r>
                  <a:rPr/>
                  <a:t> = conditional mean on neighboring values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e>
                    </m:d>
                  </m:oMath>
                </a14:m>
                <a:r>
                  <a:rPr/>
                  <a:t> = conditional variance</a:t>
                </a:r>
              </a:p>
              <a:p>
                <a:pPr lvl="0"/>
                <a:r>
                  <a:rPr/>
                  <a:t>Neighbors: max(</a:t>
                </a:r>
                <a14:m>
                  <m:oMath xmlns:m="http://schemas.openxmlformats.org/officeDocument/2006/math">
                    <m:r>
                      <m:t>2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</m:oMath>
                </a14:m>
                <a:r>
                  <a:rPr/>
                  <a:t>) to </a:t>
                </a:r>
                <a14:m>
                  <m:oMath xmlns:m="http://schemas.openxmlformats.org/officeDocument/2006/math">
                    <m:r>
                      <m:t>2</m:t>
                    </m:r>
                    <m:r>
                      <m:t>k</m:t>
                    </m:r>
                  </m:oMath>
                </a14:m>
                <a:r>
                  <a:rPr/>
                  <a:t> (left) and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to min(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t>i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/>
                  <a:t>) (right)</a:t>
                </a:r>
              </a:p>
            </p:txBody>
          </p:sp>
        </mc:Choice>
      </mc:AlternateContent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Matrix inversion for conditional distribution: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μ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12</m:t>
                                </m:r>
                              </m:sub>
                            </m:sSub>
                            <m:sSubSup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22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bSup>
                            <m:sSub>
                              <m:e>
                                <m:r>
                                  <m:rPr>
                                    <m:sty m:val="b"/>
                                  </m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neighbors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σ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k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11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12</m:t>
                                </m:r>
                              </m:sub>
                            </m:sSub>
                            <m:sSubSup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22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bSup>
                            <m:sSub>
                              <m:e>
                                <m:r>
                                  <m:t>Γ</m:t>
                                </m:r>
                              </m:e>
                              <m:sub>
                                <m:r>
                                  <m:t>21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matrix inversion per step, not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Can generate indefinitely without fixed horizon</a:t>
                </a:r>
              </a:p>
              <a:p>
                <a:pPr lvl="0"/>
                <a:r>
                  <a:rPr/>
                  <a:t>Truncates far dependencies</a:t>
                </a:r>
              </a:p>
              <a:p>
                <a:pPr lvl="1"/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</m:oMath>
                </a14:m>
                <a:r>
                  <a:rPr/>
                  <a:t> are small: ignores some correlations</a:t>
                </a:r>
              </a:p>
              <a:p>
                <a:pPr lvl="1"/>
                <a:r>
                  <a:rPr/>
                  <a:t>Need to tune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m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based on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1"/>
                <a:r>
                  <a:rPr/>
                  <a:t>Loss of long-range dependence near boundaries</a:t>
                </a:r>
              </a:p>
            </p:txBody>
          </p:sp>
        </mc:Choice>
      </mc:AlternateContent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On-the-fly version adds complexity</a:t>
                </a:r>
              </a:p>
              <a:p>
                <a:pPr lvl="1"/>
                <a:r>
                  <a:rPr/>
                  <a:t>Algorithm has to manage “enlargement” (doubling time horizon)</a:t>
                </a:r>
              </a:p>
              <a:p>
                <a:pPr lvl="1"/>
                <a:r>
                  <a:rPr/>
                  <a:t>Order of generation matters (bisection vs on-the-fly)</a:t>
                </a:r>
              </a:p>
              <a:p>
                <a:pPr lvl="1"/>
                <a:r>
                  <a:rPr/>
                  <a:t>Harder to implement than FFT</a:t>
                </a:r>
              </a:p>
              <a:p>
                <a:pPr lvl="0"/>
                <a:r>
                  <a:rPr b="1"/>
                  <a:t>Streaming:</a:t>
                </a:r>
                <a:r>
                  <a:rPr/>
                  <a:t> Generate one path point at a time (on-the-fly variant)</a:t>
                </a:r>
              </a:p>
              <a:p>
                <a:pPr lvl="0"/>
                <a:r>
                  <a:rPr b="1"/>
                  <a:t>Accuracy:</a:t>
                </a:r>
                <a:r>
                  <a:rPr/>
                  <a:t> Near-exact when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</m:oMath>
                </a14:m>
                <a:r>
                  <a:rPr/>
                  <a:t> are large enough</a:t>
                </a:r>
              </a:p>
              <a:p>
                <a:pPr lvl="0"/>
                <a:r>
                  <a:rPr b="1"/>
                  <a:t>Adaptive:</a:t>
                </a:r>
                <a:r>
                  <a:rPr/>
                  <a:t> Can adjust parameters based on tolerance</a:t>
                </a:r>
              </a:p>
            </p:txBody>
          </p:sp>
        </mc:Choice>
      </mc:AlternateContent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Best for:</a:t>
                </a:r>
                <a:r>
                  <a:rPr/>
                  <a:t> Streaming applications, when horizon is unknown</a:t>
                </a:r>
              </a:p>
              <a:p>
                <a:pPr lvl="0" indent="0" marL="0">
                  <a:buNone/>
                </a:pPr>
                <a:r>
                  <a:rPr b="1"/>
                  <a:t>Comparison:</a:t>
                </a:r>
                <a:r>
                  <a:rPr/>
                  <a:t> On-the-fly RMD vs FFT offer similar speed (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 vs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), but RMD more flexible</a:t>
                </a:r>
              </a:p>
            </p:txBody>
          </p:sp>
        </mc:Choice>
      </mc:AlternateContent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6: Spectral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Overview</a:t>
                </a:r>
              </a:p>
              <a:p>
                <a:pPr lvl="0" indent="0" marL="0">
                  <a:buNone/>
                </a:pPr>
                <a:r>
                  <a:rPr b="1"/>
                  <a:t>Idea:</a:t>
                </a:r>
                <a:r>
                  <a:rPr/>
                  <a:t> Transform to frequency domain using spectral density of fGn</a:t>
                </a:r>
              </a:p>
              <a:p>
                <a:pPr lvl="0" indent="0" marL="0">
                  <a:buNone/>
                </a:pPr>
                <a:r>
                  <a:rPr/>
                  <a:t>Spectral density of fractional Gaussian noise: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f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λ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π</m:t>
                                </m:r>
                                <m:r>
                                  <m:t>H</m:t>
                                </m:r>
                              </m:e>
                            </m:d>
                            <m:r>
                              <m:t>Γ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  <m: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λ</m:t>
                                </m:r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|"/>
                                    <m:endChr m:val="|"/>
                                    <m:sepChr m:val=""/>
                                    <m:grow/>
                                  </m:dPr>
                                  <m:e>
                                    <m:r>
                                      <m:t>λ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2</m:t>
                                </m:r>
                                <m: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B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H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H</m:t>
                        </m:r>
                      </m:e>
                    </m:d>
                  </m:oMath>
                </a14:m>
                <a:r>
                  <a:rPr/>
                  <a:t> corrects for periodicity effects (complex expression)</a:t>
                </a:r>
              </a:p>
            </p:txBody>
          </p:sp>
        </mc:Choice>
      </mc:AlternateContent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Algorithm Outline</a:t>
                </a:r>
              </a:p>
              <a:p>
                <a:pPr lvl="0" indent="0" marL="0">
                  <a:buNone/>
                </a:pPr>
                <a:r>
                  <a:rPr b="1"/>
                  <a:t>Input:</a:t>
                </a:r>
                <a:r>
                  <a:rPr/>
                  <a:t> Sample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Hurst exponent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Approximate spectral density</a:t>
                </a:r>
              </a:p>
              <a:p>
                <a:pPr lvl="0"/>
                <a:r>
                  <a:rPr/>
                  <a:t>Compute </a:t>
                </a:r>
                <a14:m>
                  <m:oMath xmlns:m="http://schemas.openxmlformats.org/officeDocument/2006/math">
                    <m: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for frequencies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π</m:t>
                    </m:r>
                    <m:r>
                      <m:t>k</m:t>
                    </m:r>
                    <m:r>
                      <m:rPr>
                        <m:sty m:val="p"/>
                      </m:rPr>
                      <m:t>/</m:t>
                    </m:r>
                    <m:r>
                      <m:t>l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l</m:t>
                    </m:r>
                  </m:oMath>
                </a14:m>
              </a:p>
              <a:p>
                <a:pPr lvl="0"/>
                <a:r>
                  <a:rPr/>
                  <a:t>Use Paxson’s robust approximation for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H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startAt="2" type="arabicPeriod"/>
                </a:pPr>
                <a:r>
                  <a:rPr/>
                  <a:t>Frequency-domain sampling Generate coefficients:</a:t>
                </a:r>
              </a:p>
              <a:p>
                <a:pPr lvl="0" indent="-342900" marL="342900">
                  <a:buAutoNum startAt="2" type="arabicPeriod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a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sep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left"/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mcJc m:val="left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m:t>0</m:t>
                                      </m:r>
                                    </m:e>
                                    <m:e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e>
                                          <m:r>
                                            <m:t>R</m:t>
                                          </m:r>
                                        </m:e>
                                        <m:sub>
                                          <m:r>
                                            <m:t>k</m:t>
                                          </m:r>
                                        </m:sub>
                                      </m:sSub>
                                      <m:rad>
                                        <m:radPr>
                                          <m:degHide m:val="on"/>
                                        </m:radPr>
                                        <m:deg/>
                                        <m:e>
                                          <m:r>
                                            <m:t>f</m:t>
                                          </m:r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sSub>
                                                <m:e>
                                                  <m: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t>k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rad>
                                      <m:r>
                                        <m:rPr>
                                          <m:sty m:val="p"/>
                                        </m:rPr>
                                        <m:t>exp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r>
                                            <m:t>i</m:t>
                                          </m:r>
                                          <m:sSub>
                                            <m:e>
                                              <m:r>
                                                <m:t>Φ</m:t>
                                              </m:r>
                                            </m:e>
                                            <m:sub>
                                              <m:r>
                                                <m:t>k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…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/</m:t>
                                      </m:r>
                                      <m: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e>
                                          <m:r>
                                            <m:t>U</m:t>
                                          </m:r>
                                        </m:e>
                                        <m:sub>
                                          <m:r>
                                            <m:t>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/</m:t>
                                          </m:r>
                                          <m:r>
                                            <m:t>2</m:t>
                                          </m:r>
                                        </m:sub>
                                      </m:sSub>
                                      <m:rad>
                                        <m:radPr>
                                          <m:degHide m:val="on"/>
                                        </m:radPr>
                                        <m:deg/>
                                        <m:e>
                                          <m:r>
                                            <m:t>f</m:t>
                                          </m:r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sSub>
                                                <m:e>
                                                  <m: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t>N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m:t>/</m:t>
                                                  </m:r>
                                                  <m: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rad>
                                    </m:e>
                                    <m:e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/</m:t>
                                      </m:r>
                                      <m: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e>
                                          <m: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m:t>k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m:t>*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/</m:t>
                                      </m:r>
                                      <m: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…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Exp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Uniform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t>π</m:t>
                        </m:r>
                      </m:e>
                    </m:d>
                  </m:oMath>
                </a14:m>
                <a:r>
                  <a:rPr/>
                  <a:t> (independent)</a:t>
                </a:r>
              </a:p>
            </p:txBody>
          </p:sp>
        </mc:Choice>
      </mc:AlternateContent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3: Inverse FFT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b"/>
                              </m:rPr>
                              <m:t>Z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IFFT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m:t>a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B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∑</m:t>
                            </m:r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Spectral representation theorem:</a:t>
                </a:r>
                <a:r>
                  <a:rPr/>
                  <a:t> fGn can be reconstructed from spectral density</a:t>
                </a:r>
              </a:p>
              <a:p>
                <a:pPr lvl="0"/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N</m:t>
                        </m:r>
                      </m:e>
                    </m:d>
                  </m:oMath>
                </a14:m>
              </a:p>
              <a:p>
                <a:pPr lvl="0"/>
                <a:r>
                  <a:rPr/>
                  <a:t>Approximates covariance structure well</a:t>
                </a:r>
              </a:p>
              <a:p>
                <a:pPr lvl="0"/>
                <a:r>
                  <a:rPr/>
                  <a:t>Exact form of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H</m:t>
                        </m:r>
                      </m:e>
                    </m:d>
                  </m:oMath>
                </a14:m>
                <a:r>
                  <a:rPr/>
                  <a:t> unknown</a:t>
                </a:r>
              </a:p>
              <a:p>
                <a:pPr lvl="1"/>
                <a:r>
                  <a:rPr/>
                  <a:t>Paxson’s approximation: empirical + calibrated</a:t>
                </a:r>
              </a:p>
              <a:p>
                <a:pPr lvl="2"/>
                <a:r>
                  <a:rPr/>
                  <a:t>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sepChr m:val=""/>
                        <m:grow/>
                      </m:dPr>
                      <m:e>
                        <m:r>
                          <m:t>λ</m:t>
                        </m:r>
                      </m:e>
                    </m:d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,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B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≈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π</m:t>
                                </m:r>
                                <m:r>
                                  <m:t>H</m:t>
                                </m:r>
                              </m:e>
                            </m:d>
                            <m:r>
                              <m:t>Γ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2</m:t>
                                </m:r>
                                <m:r>
                                  <m:t>H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cos</m:t>
                                    </m:r>
                                    <m:r>
                                      <m:t>λ</m:t>
                                    </m:r>
                                  </m:num>
                                  <m:den>
                                    <m:s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sepChr m:val=""/>
                                            <m:grow/>
                                          </m:dPr>
                                          <m:e>
                                            <m:r>
                                              <m:t>λ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m:t>2</m:t>
                                        </m:r>
                                        <m:r>
                                          <m:t>H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+</m:t>
                                        </m:r>
                                        <m:r>
                                          <m:t>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2"/>
                <a:r>
                  <a:rPr/>
                  <a:t>For computational purposes, set </a:t>
                </a:r>
                <a14:m>
                  <m:oMath xmlns:m="http://schemas.openxmlformats.org/officeDocument/2006/math">
                    <m: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λ</m:t>
                        </m:r>
                      </m:e>
                    </m:d>
                    <m:r>
                      <m:rPr>
                        <m:sty m:val="p"/>
                      </m:rPr>
                      <m:t>≈</m:t>
                    </m:r>
                    <m:r>
                      <m:t>2</m:t>
                    </m:r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π</m:t>
                        </m:r>
                        <m:r>
                          <m:t>H</m:t>
                        </m:r>
                      </m:e>
                    </m:d>
                    <m:r>
                      <m:t>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2</m:t>
                        </m:r>
                        <m:r>
                          <m:t>H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λ</m:t>
                        </m:r>
                      </m:e>
                    </m:d>
                    <m:sSup>
                      <m:e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t>λ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H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a:p>
              <a:p>
                <a:pPr lvl="1"/>
                <a:r>
                  <a:rPr/>
                  <a:t>Depends on correct parameterization</a:t>
                </a:r>
              </a:p>
            </p:txBody>
          </p:sp>
        </mc:Choice>
      </mc:AlternateContent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Only one FFT needed (vs two for Davies-Harte)</a:t>
                </a:r>
              </a:p>
              <a:p>
                <a:pPr lvl="1"/>
                <a:r>
                  <a:rPr/>
                  <a:t>~4x faster than Davies-Harte FFT</a:t>
                </a:r>
              </a:p>
              <a:p>
                <a:pPr lvl="1"/>
                <a:r>
                  <a:rPr/>
                  <a:t>But requires careful implementation</a:t>
                </a:r>
              </a:p>
              <a:p>
                <a:pPr lvl="0"/>
                <a:r>
                  <a:rPr/>
                  <a:t>Empirically validated for wide range of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Best for:</a:t>
                </a:r>
                <a:r>
                  <a:rPr/>
                  <a:t> Large-scale simulations where speed is critical</a:t>
                </a:r>
              </a:p>
            </p:txBody>
          </p:sp>
        </mc:Choice>
      </mc:AlternateContent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04900"/>
                <a:gridCol w="1104900"/>
                <a:gridCol w="1193800"/>
                <a:gridCol w="1270000"/>
                <a:gridCol w="237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O(N^2)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horizon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&lt; 5K, exact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Cholesky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O(N^3)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horizon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&lt; 1K, small samples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FFT (CEM)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 log 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horizon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&gt; 5K, standard choice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Corr. RW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O(N^{2-2H})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On-the-fly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Theory, error control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Near-exact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Bounded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Unknown horizon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 log 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Good approx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horizon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Largest N, speed critical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Numerical Example: fBM Volatility Model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Motivation</a:t>
                </a:r>
              </a:p>
              <a:p>
                <a:pPr lvl="0" indent="0" marL="0">
                  <a:buNone/>
                </a:pPr>
                <a:r>
                  <a:rPr/>
                  <a:t>fBM finds natural applications in </a:t>
                </a:r>
                <a:r>
                  <a:rPr b="1"/>
                  <a:t>stochastic volatility modeling</a:t>
                </a:r>
                <a:r>
                  <a:rPr/>
                  <a:t>, where long-memory properties capture realistic market behavior:</a:t>
                </a:r>
              </a:p>
              <a:p>
                <a:pPr lvl="0"/>
                <a:r>
                  <a:rPr/>
                  <a:t>Traditional log-normal volatility models assume </a:t>
                </a:r>
                <a:r>
                  <a:rPr b="1"/>
                  <a:t>independence</a:t>
                </a:r>
                <a:r>
                  <a:rPr/>
                  <a:t> (Markovian)</a:t>
                </a:r>
              </a:p>
              <a:p>
                <a:pPr lvl="0"/>
                <a:r>
                  <a:rPr/>
                  <a:t>Real volatility shows </a:t>
                </a:r>
                <a:r>
                  <a:rPr b="1"/>
                  <a:t>persistence</a:t>
                </a:r>
                <a:r>
                  <a:rPr/>
                  <a:t>: high volatility tends to remain high</a:t>
                </a:r>
              </a:p>
              <a:p>
                <a:pPr lvl="0"/>
                <a:r>
                  <a:rPr b="1"/>
                  <a:t>fBM with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 captures trending, persistent volatility</a:t>
                </a:r>
              </a:p>
            </p:txBody>
          </p:sp>
        </mc:Choice>
      </mc:AlternateContent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Stochastic Volatility Model</a:t>
                </a:r>
              </a:p>
              <a:p>
                <a:pPr lvl="0" indent="0" marL="0">
                  <a:buNone/>
                </a:pPr>
                <a:r>
                  <a:rPr/>
                  <a:t>Consider the truncated fractional Brownian volatility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d>
                              <m:dPr>
                                <m:begChr m:val="{"/>
                                <m:endChr m:val=""/>
                                <m:sep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left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m:t>σ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r>
                                            <m:t>t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sSub>
                                        <m:e>
                                          <m: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  <m:sSup>
                                        <m:e>
                                          <m:r>
                                            <m:t>e</m:t>
                                          </m:r>
                                        </m:e>
                                        <m:sup>
                                          <m:r>
                                            <m:t>v</m:t>
                                          </m:r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t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m:t>d</m:t>
                                      </m:r>
                                      <m:r>
                                        <m:t>x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r>
                                            <m:t>t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m:t>=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m:t>k</m:t>
                                      </m:r>
                                      <m:r>
                                        <m:t>x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sepChr m:val=""/>
                                          <m:grow/>
                                        </m:dPr>
                                        <m:e>
                                          <m:r>
                                            <m:t>t</m:t>
                                          </m:r>
                                        </m:e>
                                      </m:d>
                                      <m:r>
                                        <m:t>d</m:t>
                                      </m:r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v</m:t>
                                      </m:r>
                                      <m:r>
                                        <m:t>d</m:t>
                                      </m:r>
                                      <m:sSubSup>
                                        <m:e>
                                          <m: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m:t>H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begChr m:val="("/>
                                              <m:endChr m:val=")"/>
                                              <m:sepChr m:val=""/>
                                              <m:grow/>
                                            </m:dPr>
                                            <m:e>
                                              <m:r>
                                                <m:t>t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the volatility factor of the log-volatility process </a:t>
                </a:r>
                <a14:m>
                  <m:oMath xmlns:m="http://schemas.openxmlformats.org/officeDocument/2006/math">
                    <m:r>
                      <m:t>v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v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 is an </a:t>
                </a:r>
                <a:r>
                  <a:rPr b="1"/>
                  <a:t>OU-process driven by truncated fBM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</a:p>
            </p:txBody>
          </p:sp>
        </mc:Choice>
      </mc:AlternateContent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Solving the OU-process with integrating factor: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x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k</m:t>
                            </m:r>
                            <m:nary>
                              <m:naryPr>
                                <m:chr m:val="∫"/>
                                <m:limLoc m:val="subSup"/>
                                <m:subHide m:val="off"/>
                                <m:supHide m:val="off"/>
                              </m:naryPr>
                              <m:sub>
                                <m:r>
                                  <m:t>0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k</m:t>
                                    </m:r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s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nary>
                            <m:r>
                              <m:t>d</m:t>
                            </m:r>
                            <m:sSubSup>
                              <m:e>
                                <m:r>
                                  <m:t>B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s</m:t>
                                    </m:r>
                                  </m:e>
                                </m:d>
                              </m:sup>
                            </m:sSubSup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Continuous Formulation</a:t>
                </a:r>
              </a:p>
              <a:p>
                <a:pPr lvl="0" indent="0" marL="0">
                  <a:buNone/>
                </a:pPr>
                <a:r>
                  <a:rPr/>
                  <a:t>By applying fractional calculus (formulas from [5]), we reformulate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x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∫"/>
                                <m:limLoc m:val="subSup"/>
                                <m:subHide m:val="off"/>
                                <m:supHide m:val="off"/>
                              </m:naryPr>
                              <m:sub>
                                <m:r>
                                  <m:t>0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  <m:e>
                                <m:r>
                                  <m:t>a</m:t>
                                </m:r>
                              </m:e>
                            </m:nary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s</m:t>
                                </m:r>
                              </m:e>
                            </m:d>
                            <m:r>
                              <m:t>d</m:t>
                            </m:r>
                            <m:r>
                              <m:t>B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s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 is standard Brownian motion and </a:t>
                </a:r>
                <a14:m>
                  <m:oMath xmlns:m="http://schemas.openxmlformats.org/officeDocument/2006/math">
                    <m: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v</m:t>
                        </m:r>
                      </m:num>
                      <m:den>
                        <m:r>
                          <m:t>t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H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t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k</m:t>
                            </m:r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u</m:t>
                                </m:r>
                              </m:e>
                            </m:d>
                          </m:sup>
                        </m:sSup>
                      </m:e>
                    </m:nary>
                    <m:sSup>
                      <m:e>
                        <m:r>
                          <m:t>u</m:t>
                        </m:r>
                      </m:e>
                      <m:sup>
                        <m:r>
                          <m:t>H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t>d</m:t>
                    </m:r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v</m:t>
                        </m:r>
                      </m:num>
                      <m:den>
                        <m:r>
                          <m:t>t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H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m:t>t</m:t>
                            </m:r>
                          </m:e>
                          <m:sup>
                            <m: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k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k</m:t>
                            </m:r>
                            <m:r>
                              <m:t>t</m:t>
                            </m:r>
                            <m:sSup>
                              <m:e>
                                <m:r>
                                  <m:t>u</m:t>
                                </m:r>
                              </m:e>
                              <m:sup>
                                <m:r>
                                  <m:t>α</m:t>
                                </m:r>
                              </m:sup>
                            </m:sSup>
                          </m:sup>
                        </m:sSup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</m:naryPr>
                          <m:sub>
                            <m:r>
                              <m:t>0</m:t>
                            </m:r>
                          </m:sub>
                          <m:sup>
                            <m:r>
                              <m:t>t</m:t>
                            </m:r>
                          </m:sup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r>
                                  <m:t>k</m:t>
                                </m:r>
                                <m:r>
                                  <m:t>u</m:t>
                                </m:r>
                              </m:sup>
                            </m:sSup>
                          </m:e>
                        </m:nary>
                        <m:sSup>
                          <m:e>
                            <m:r>
                              <m:t>u</m:t>
                            </m:r>
                          </m:e>
                          <m:sup>
                            <m:r>
                              <m:t>α</m:t>
                            </m:r>
                          </m:sup>
                        </m:sSup>
                        <m:r>
                          <m:t>d</m:t>
                        </m:r>
                        <m:r>
                          <m:t>u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Discretization</a:t>
                </a:r>
              </a:p>
              <a:p>
                <a:pPr lvl="0" indent="0" marL="0">
                  <a:buNone/>
                </a:pPr>
                <a:r>
                  <a:rPr/>
                  <a:t>Applying ordinary discretization scheme to equation (54):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acc>
                              <m:accPr>
                                <m:chr m:val="̃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t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  <m:e>
                                <m:r>
                                  <m:t>a</m:t>
                                </m:r>
                              </m:e>
                            </m:nary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t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num>
                                  <m:den>
                                    <m: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B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B</m:t>
                                </m:r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t>j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</a:t>
                </a:r>
                <a14:m>
                  <m:oMath xmlns:m="http://schemas.openxmlformats.org/officeDocument/2006/math">
                    <m: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m:t>⋅</m:t>
                        </m:r>
                      </m:e>
                    </m:d>
                  </m:oMath>
                </a14:m>
                <a:r>
                  <a:rPr/>
                  <a:t> can be calculated by symbolic packages (MATLAB, Mathematica) as:</a:t>
                </a:r>
              </a:p>
              <a:p>
                <a:pPr lvl="0"/>
                <a:r>
                  <a:rPr/>
                  <a:t>A summation involving </a:t>
                </a:r>
                <a:r>
                  <a:rPr b="1"/>
                  <a:t>constant times incomplete gamma function</a:t>
                </a:r>
              </a:p>
              <a:p>
                <a:pPr lvl="0"/>
                <a:r>
                  <a:rPr/>
                  <a:t>For OU-process, decomposition via incomplete gamma function</a:t>
                </a:r>
              </a:p>
              <a:p>
                <a:pPr lvl="0"/>
                <a:r>
                  <a:rPr/>
                  <a:t>Numerically stable computation possible</a:t>
                </a:r>
              </a:p>
            </p:txBody>
          </p:sp>
        </mc:Choice>
      </mc:AlternateContent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Volatility Process Comparison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Sample volatility process </a:t>
                </a:r>
                <a14:m>
                  <m:oMath xmlns:m="http://schemas.openxmlformats.org/officeDocument/2006/math">
                    <m:r>
                      <m:t>σ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t>e</m:t>
                        </m:r>
                      </m:e>
                      <m:sup>
                        <m:r>
                          <m:t>v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</m:e>
                        </m:d>
                      </m:sup>
                    </m:sSup>
                  </m:oMath>
                </a14:m>
                <a:r>
                  <a:rPr b="1"/>
                  <a:t> for: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Figure 2 (OU-based):</a:t>
                </a:r>
                <a:r>
                  <a:rPr/>
                  <a:t> Fractional-OU driven volatility (red) vs Standard BM (blue)</a:t>
                </a:r>
                <a:br/>
                <a:r>
                  <a:rPr/>
                  <a:t>- More persistent trends (smoother, less mean-reversion)</a:t>
                </a:r>
              </a:p>
              <a:p>
                <a:pPr lvl="0" indent="0" marL="0">
                  <a:buNone/>
                </a:pPr>
                <a:r>
                  <a:rPr b="1"/>
                  <a:t>Figure 3 (FFT-based):</a:t>
                </a:r>
                <a:r>
                  <a:rPr/>
                  <a:t> Same comparison with improved numerical robustness</a:t>
                </a:r>
                <a:br/>
                <a:r>
                  <a:rPr/>
                  <a:t>- Covariance structure better preserved over entire path</a:t>
                </a:r>
              </a:p>
            </p:txBody>
          </p:sp>
        </mc:Choice>
      </mc:AlternateContent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/fi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2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/fig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1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3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Key Findings</a:t>
                </a:r>
              </a:p>
              <a:p>
                <a:pPr lvl="0" indent="0" marL="0">
                  <a:buNone/>
                </a:pPr>
                <a:r>
                  <a:rPr/>
                  <a:t>fBM-driven volatility (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0.75</m:t>
                    </m:r>
                  </m:oMath>
                </a14:m>
                <a:r>
                  <a:rPr/>
                  <a:t>) shows significantly more trending behavior than ordinary OU volatility.</a:t>
                </a:r>
              </a:p>
              <a:p>
                <a:pPr lvl="0"/>
                <a:r>
                  <a:rPr/>
                  <a:t>Long-memory volatility leads to </a:t>
                </a:r>
                <a:r>
                  <a:rPr b="1"/>
                  <a:t>heavier tails</a:t>
                </a:r>
                <a:r>
                  <a:rPr/>
                  <a:t> in returns</a:t>
                </a:r>
              </a:p>
              <a:p>
                <a:pPr lvl="0"/>
                <a:r>
                  <a:rPr/>
                  <a:t>Traditional VaR models may </a:t>
                </a:r>
                <a:r>
                  <a:rPr b="1"/>
                  <a:t>underestimate risk</a:t>
                </a:r>
              </a:p>
              <a:p>
                <a:pPr lvl="0"/>
                <a:r>
                  <a:rPr/>
                  <a:t>Clustering of volatility spikes becomes more pronounced</a:t>
                </a:r>
              </a:p>
              <a:p>
                <a:pPr lvl="0"/>
                <a:r>
                  <a:rPr/>
                  <a:t>OU-formulation (Eq. 53-56) theoretically exact but requires special function computation</a:t>
                </a:r>
              </a:p>
            </p:txBody>
          </p:sp>
        </mc:Choice>
      </mc:AlternateContent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FFT method</a:t>
            </a:r>
            <a:r>
              <a:rPr/>
              <a:t> (Figure 3) computationally simpler and numerically more stable</a:t>
            </a:r>
          </a:p>
          <a:p>
            <a:pPr lvl="0"/>
            <a:r>
              <a:rPr/>
              <a:t>Use </a:t>
            </a:r>
            <a:r>
              <a:rPr b="1"/>
              <a:t>FFT or Spectral methods</a:t>
            </a:r>
            <a:r>
              <a:rPr/>
              <a:t> for efficient fBM generation in volatility models</a:t>
            </a:r>
          </a:p>
          <a:p>
            <a:pPr lvl="0"/>
            <a:r>
              <a:rPr/>
              <a:t>Validate against </a:t>
            </a:r>
            <a:r>
              <a:rPr b="1"/>
              <a:t>OU discretization</a:t>
            </a:r>
            <a:r>
              <a:rPr/>
              <a:t> on small subsets</a:t>
            </a:r>
          </a:p>
          <a:p>
            <a:pPr lvl="0"/>
            <a:r>
              <a:rPr/>
              <a:t>Account for long-range dependencies in risk management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Primary Reference</a:t>
            </a:r>
          </a:p>
          <a:p>
            <a:pPr lvl="0" indent="0" marL="0">
              <a:buNone/>
            </a:pPr>
            <a:r>
              <a:rPr b="1"/>
              <a:t>Kijima, M. and Tam, C.M. (2013).</a:t>
            </a:r>
            <a:r>
              <a:rPr/>
              <a:t> “Fractional Brownian Motions in Financial Models and Their Monte Carlo Simulation.” In: </a:t>
            </a:r>
            <a:r>
              <a:rPr i="1"/>
              <a:t>Theory and Applications of Monte Carlo Simulations</a:t>
            </a:r>
            <a:r>
              <a:rPr/>
              <a:t>. InTech. http://dx.doi.org/10.5772/53568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Full References</a:t>
            </a:r>
          </a:p>
          <a:p>
            <a:pPr lvl="0" indent="0" marL="0">
              <a:buNone/>
            </a:pPr>
            <a:r>
              <a:rPr/>
              <a:t>[1] Kolmogorov, A.N. (1940). “Wienersche Spiralen und einige andere interessante Kurven im Hilbertschen Raum.” </a:t>
            </a:r>
            <a:r>
              <a:rPr i="1"/>
              <a:t>C.R. (Doklady) Acad. URSS (N.S)</a:t>
            </a:r>
            <a:r>
              <a:rPr/>
              <a:t>, 26, 115-118.</a:t>
            </a:r>
          </a:p>
          <a:p>
            <a:pPr lvl="0" indent="0" marL="0">
              <a:buNone/>
            </a:pPr>
            <a:r>
              <a:rPr/>
              <a:t>[2] Mandelbrot, B.B. and Van Ness, J.W. (1968). “Fractional Brownian Motions, Fractional Noises and Applications.” </a:t>
            </a:r>
            <a:r>
              <a:rPr i="1"/>
              <a:t>SIAM Review</a:t>
            </a:r>
            <a:r>
              <a:rPr/>
              <a:t>, 10, 422–437.</a:t>
            </a:r>
          </a:p>
          <a:p>
            <a:pPr lvl="0" indent="0" marL="0">
              <a:buNone/>
            </a:pPr>
            <a:r>
              <a:rPr/>
              <a:t>[3] Mandelbrot, B.B. (1965). “Une classe de processus homothgtiques a soi; Application a la loi climatologique de H. E. Hurst.” </a:t>
            </a:r>
            <a:r>
              <a:rPr i="1"/>
              <a:t>C.R. Acad. Sci. Paris</a:t>
            </a:r>
            <a:r>
              <a:rPr/>
              <a:t>, 260, 3274-3277.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[4] Lo, A.W. (1991). “Long-Term Memory in Stock Market Price.” </a:t>
            </a:r>
            <a:r>
              <a:rPr i="1"/>
              <a:t>Econometrica</a:t>
            </a:r>
            <a:r>
              <a:rPr/>
              <a:t>, 59, 1279-1313.</a:t>
            </a:r>
          </a:p>
          <a:p>
            <a:pPr lvl="0" indent="0" marL="0">
              <a:buNone/>
            </a:pPr>
            <a:r>
              <a:rPr/>
              <a:t>[5] Comte, F. and Renault, E. (1996). “Long Memory Continuous Time Models.” </a:t>
            </a:r>
            <a:r>
              <a:rPr i="1"/>
              <a:t>J. Econometrics</a:t>
            </a:r>
            <a:r>
              <a:rPr/>
              <a:t>, 73, 101-149.</a:t>
            </a:r>
          </a:p>
          <a:p>
            <a:pPr lvl="0" indent="0" marL="0">
              <a:buNone/>
            </a:pPr>
            <a:r>
              <a:rPr/>
              <a:t>[6] Comte, F. and Renault, E. (1998). “Long Memory in Continuous-Time Stochastic Volatility Models.” </a:t>
            </a:r>
            <a:r>
              <a:rPr i="1"/>
              <a:t>Mathematical Finance</a:t>
            </a:r>
            <a:r>
              <a:rPr/>
              <a:t>, 8, 291-323.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[7] Hull, J. and White, A. (1987). “The Pricing of Options on Assets with Stochastic Volatilities.” </a:t>
            </a:r>
            <a:r>
              <a:rPr i="1"/>
              <a:t>Rev. Finan. Studies</a:t>
            </a:r>
            <a:r>
              <a:rPr/>
              <a:t>, 3, 281-300.</a:t>
            </a:r>
          </a:p>
          <a:p>
            <a:pPr lvl="0" indent="0" marL="0">
              <a:buNone/>
            </a:pPr>
            <a:r>
              <a:rPr/>
              <a:t>[8] Scott, L. (1987). “Option Pricing when the Variance Changes Randomly: Estimation and an Application.” </a:t>
            </a:r>
            <a:r>
              <a:rPr i="1"/>
              <a:t>J. Financial and Quant. Anal.</a:t>
            </a:r>
            <a:r>
              <a:rPr/>
              <a:t>, 22, 419-438.</a:t>
            </a:r>
          </a:p>
          <a:p>
            <a:pPr lvl="0" indent="0" marL="0">
              <a:buNone/>
            </a:pPr>
            <a:r>
              <a:rPr/>
              <a:t>[9] Ding, Z., Granger, C.W.J. and Engle, R.F. (1993). “A Long Memory Property of Stock Market Returns and a New Model.” </a:t>
            </a:r>
            <a:r>
              <a:rPr i="1"/>
              <a:t>J. Empirical Finance</a:t>
            </a:r>
            <a:r>
              <a:rPr/>
              <a:t>, 1, 83-106.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[10] Crato, N. and de Lima, P. (1994). “Long-Range Dependence in the Conditional Variance of Stock Returns.” </a:t>
            </a:r>
            <a:r>
              <a:rPr i="1"/>
              <a:t>Economics Letters</a:t>
            </a:r>
            <a:r>
              <a:rPr/>
              <a:t>, 45, 281-285.</a:t>
            </a:r>
          </a:p>
          <a:p>
            <a:pPr lvl="0" indent="0" marL="0">
              <a:buNone/>
            </a:pPr>
            <a:r>
              <a:rPr/>
              <a:t>[11] Baillie, R.T., Bollerslev, T. and Mikkelsen, H.O. (1996). “Fractionally Integrated Generalized Autoregressive Conditional Heteroskedasticity.” </a:t>
            </a:r>
            <a:r>
              <a:rPr i="1"/>
              <a:t>J. Econometrics</a:t>
            </a:r>
            <a:r>
              <a:rPr/>
              <a:t>, 74, 3-30.</a:t>
            </a:r>
          </a:p>
          <a:p>
            <a:pPr lvl="0" indent="0" marL="0">
              <a:buNone/>
            </a:pPr>
            <a:r>
              <a:rPr/>
              <a:t>[12] Bollerslev, T. and Mikkelsen, H.O. (1996). “Modeling and Pricing Long Memory in Stock Market Volatility.” </a:t>
            </a:r>
            <a:r>
              <a:rPr i="1"/>
              <a:t>J. Econometrics</a:t>
            </a:r>
            <a:r>
              <a:rPr/>
              <a:t>, 73, 151-184.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[13] Jacquier, E., Polson, N.G. and Rossi, P.E. (1994). “Bayesian Analysis of Stochastic Volatility Models.” </a:t>
            </a:r>
            <a:r>
              <a:rPr i="1"/>
              <a:t>J. Bus. and Econ. Statistics</a:t>
            </a:r>
            <a:r>
              <a:rPr/>
              <a:t>, 12, 371-417.</a:t>
            </a:r>
          </a:p>
          <a:p>
            <a:pPr lvl="0" indent="0" marL="0">
              <a:buNone/>
            </a:pPr>
            <a:r>
              <a:rPr/>
              <a:t>[14] Breidt, F.J., Crato, N. and de Lima, P. (1998). “The Detection and Estimation of Long Memory in Stochastic Volatility.” </a:t>
            </a:r>
            <a:r>
              <a:rPr i="1"/>
              <a:t>J. Econometrics</a:t>
            </a:r>
            <a:r>
              <a:rPr/>
              <a:t>, 83, 325-348.</a:t>
            </a:r>
          </a:p>
          <a:p>
            <a:pPr lvl="0" indent="0" marL="0">
              <a:buNone/>
            </a:pPr>
            <a:r>
              <a:rPr/>
              <a:t>[15] Biagini, F., Hu, Y., Øksendal, B. and Zhang T. (2008). </a:t>
            </a:r>
            <a:r>
              <a:rPr i="1"/>
              <a:t>Stochastic Calculus for Fractional Brownian Motion and Applications</a:t>
            </a:r>
            <a:r>
              <a:rPr/>
              <a:t>. Springer.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[16] Cont, R. (2007). “Volatility Clustering in Financial Markets: Empirical Facts and Agent-Based Models.” In: Kirman, A. and Teyssiere, G. (ed.), </a:t>
            </a:r>
            <a:r>
              <a:rPr i="1"/>
              <a:t>Long Memory in Economics</a:t>
            </a:r>
            <a:r>
              <a:rPr/>
              <a:t>. Springer, 289-310.</a:t>
            </a:r>
          </a:p>
          <a:p>
            <a:pPr lvl="0" indent="0" marL="0">
              <a:buNone/>
            </a:pPr>
            <a:r>
              <a:rPr/>
              <a:t>[17] Marinucci, D. and Robinson, P.M. (1999). “Alternative Forms of Fractional Brownian Motion.” </a:t>
            </a:r>
            <a:r>
              <a:rPr i="1"/>
              <a:t>J. Statistical Planning and Inference</a:t>
            </a:r>
            <a:r>
              <a:rPr/>
              <a:t>, 80, 111-122.</a:t>
            </a:r>
          </a:p>
          <a:p>
            <a:pPr lvl="0" indent="0" marL="0">
              <a:buNone/>
            </a:pPr>
            <a:r>
              <a:rPr/>
              <a:t>[18] Delbaen, F. and Schachermayer, W. (1994). “A General Version of the Fundamental Theorem of Asset Pricing.” </a:t>
            </a:r>
            <a:r>
              <a:rPr i="1"/>
              <a:t>Math. Ann.</a:t>
            </a:r>
            <a:r>
              <a:rPr/>
              <a:t>, 300, 463-520.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[19] Rogers, L.C.G. (1997). “Arbitrage with Fractional Brownian Motion.” </a:t>
            </a:r>
            <a:r>
              <a:rPr i="1"/>
              <a:t>Mathematical Finance</a:t>
            </a:r>
            <a:r>
              <a:rPr/>
              <a:t>, 7, 95-105.</a:t>
            </a:r>
          </a:p>
          <a:p>
            <a:pPr lvl="0" indent="0" marL="0">
              <a:buNone/>
            </a:pPr>
            <a:r>
              <a:rPr/>
              <a:t>[20] Cheridito, P. (2003). “Arbitrage in Fractional Brownian Motion Models.” </a:t>
            </a:r>
            <a:r>
              <a:rPr i="1"/>
              <a:t>Finance and Stochastics</a:t>
            </a:r>
            <a:r>
              <a:rPr/>
              <a:t>, 7, 533-553.</a:t>
            </a:r>
          </a:p>
          <a:p>
            <a:pPr lvl="0" indent="0" marL="0">
              <a:buNone/>
            </a:pPr>
            <a:r>
              <a:rPr/>
              <a:t>[21] Comte, F., Coutin, L. and Renault, E. (2012). “Affine Fractional Stochastic Volatility Models.” </a:t>
            </a:r>
            <a:r>
              <a:rPr i="1"/>
              <a:t>Annals of Finance</a:t>
            </a:r>
            <a:r>
              <a:rPr/>
              <a:t>, 8, 337-378.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[22] Duffie, D., Pan, R. and Singleton, K. (2000). “Transform Analysis and Asset Pricing for Affine Jump-Diffusion.” </a:t>
            </a:r>
            <a:r>
              <a:rPr i="1"/>
              <a:t>Econometrica</a:t>
            </a:r>
            <a:r>
              <a:rPr/>
              <a:t>, 68, 1343-1376.</a:t>
            </a:r>
          </a:p>
          <a:p>
            <a:pPr lvl="0" indent="0" marL="0">
              <a:buNone/>
            </a:pPr>
            <a:r>
              <a:rPr/>
              <a:t>[23] Fukasawa, M. (2011). “Asymptotic Analysis for Stochastic Volatility: Martingale Expansion.” </a:t>
            </a:r>
            <a:r>
              <a:rPr i="1"/>
              <a:t>Finance and Stochastics</a:t>
            </a:r>
            <a:r>
              <a:rPr/>
              <a:t>, 15, 635-654.</a:t>
            </a:r>
          </a:p>
          <a:p>
            <a:pPr lvl="0" indent="0" marL="0">
              <a:buNone/>
            </a:pPr>
            <a:r>
              <a:rPr/>
              <a:t>[24] Yoshida, N. (2001). “Malliavin Calculus and Martingale Expansion.” </a:t>
            </a:r>
            <a:r>
              <a:rPr i="1"/>
              <a:t>Bull. Sci. Math.</a:t>
            </a:r>
            <a:r>
              <a:rPr/>
              <a:t>, 125, 431-456.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[25] Dieker, T. (2002). </a:t>
            </a:r>
            <a:r>
              <a:rPr i="1"/>
              <a:t>Simulation of Fractional Brownian Motion</a:t>
            </a:r>
            <a:r>
              <a:rPr/>
              <a:t>. Master Thesis, Vrije Universiteit, Amsterdam.</a:t>
            </a:r>
          </a:p>
          <a:p>
            <a:pPr lvl="0" indent="0" marL="0">
              <a:buNone/>
            </a:pPr>
            <a:r>
              <a:rPr/>
              <a:t>[26] Hosking, J.R.M. (1984). “Modeling Persistence in Hydrological Time Series Using Fractional Differencing.” </a:t>
            </a:r>
            <a:r>
              <a:rPr i="1"/>
              <a:t>Water Resources Research</a:t>
            </a:r>
            <a:r>
              <a:rPr/>
              <a:t>, 20, 1898-1908.</a:t>
            </a:r>
          </a:p>
          <a:p>
            <a:pPr lvl="0" indent="0" marL="0">
              <a:buNone/>
            </a:pPr>
            <a:r>
              <a:rPr/>
              <a:t>[27] Brockwell, P.J. and Davis, R.A. (1987). </a:t>
            </a:r>
            <a:r>
              <a:rPr i="1"/>
              <a:t>Time Series: Theory and Methods</a:t>
            </a:r>
            <a:r>
              <a:rPr/>
              <a:t>. Springer, New York.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[28] Davies, R.B. and Harte, D.S. (1987). “Tests for Hurst Effect.” </a:t>
            </a:r>
            <a:r>
              <a:rPr i="1"/>
              <a:t>Biometrika</a:t>
            </a:r>
            <a:r>
              <a:rPr/>
              <a:t>, 74, 95-102.</a:t>
            </a:r>
          </a:p>
          <a:p>
            <a:pPr lvl="0" indent="0" marL="0">
              <a:buNone/>
            </a:pPr>
            <a:r>
              <a:rPr/>
              <a:t>[29] Dietrich, C.R. and Newsam, G.N. (1997). “Fast and Exact Simulation of Stationary Gaussian Processes through Circulant Embedding of the Covariance Matrix.” </a:t>
            </a:r>
            <a:r>
              <a:rPr i="1"/>
              <a:t>SIAM J. Sci. Computing</a:t>
            </a:r>
            <a:r>
              <a:rPr/>
              <a:t>, 18, 1088-1107.</a:t>
            </a:r>
          </a:p>
          <a:p>
            <a:pPr lvl="0" indent="0" marL="0">
              <a:buNone/>
            </a:pPr>
            <a:r>
              <a:rPr/>
              <a:t>[30] Perrin, E., Harba, R., Jennane, R. and Iribarren, I. (2002). “Fast and Exact Synthesis for 1-D Fractional Brownian Motion and Fractional Gaussian Noises.” </a:t>
            </a:r>
            <a:r>
              <a:rPr i="1"/>
              <a:t>IEEE Signal Processing Letters</a:t>
            </a:r>
            <a:r>
              <a:rPr/>
              <a:t>, 9, 382-384.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[31] Wood, A.T.A. and Chan, G. (1994). “Simulation of Stationary Gaussian Processes in [0,1]^d.” </a:t>
            </a:r>
            <a:r>
              <a:rPr i="1"/>
              <a:t>J. Computational and Graphical Statistics</a:t>
            </a:r>
            <a:r>
              <a:rPr/>
              <a:t>, 3, 409-432.</a:t>
            </a:r>
          </a:p>
          <a:p>
            <a:pPr lvl="0" indent="0" marL="0">
              <a:buNone/>
            </a:pPr>
            <a:r>
              <a:rPr/>
              <a:t>[32] Enriquez, N. (2004). “A Simple Construction of the Fractional Brownian Motion.” </a:t>
            </a:r>
            <a:r>
              <a:rPr i="1"/>
              <a:t>Stochastic Processes and Their Applications</a:t>
            </a:r>
            <a:r>
              <a:rPr/>
              <a:t>, 109, 203-223.</a:t>
            </a:r>
          </a:p>
          <a:p>
            <a:pPr lvl="0" indent="0" marL="0">
              <a:buNone/>
            </a:pPr>
            <a:r>
              <a:rPr/>
              <a:t>[33] Taqqu, M. (1975). “Weak Convergence to Fractional Brownian Motion and to the Rosenblatt Process.” </a:t>
            </a:r>
            <a:r>
              <a:rPr i="1"/>
              <a:t>Z. Wahr. Verw. Gebiete</a:t>
            </a:r>
            <a:r>
              <a:rPr/>
              <a:t>, 31, 287-302.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[34] Norros, I., Mannersalo, P. and Wang, J.L. (1999). “Simulation of Fractional Brownian Motion with Conditionalized Random Midpoint Displacement.” </a:t>
            </a:r>
            <a:r>
              <a:rPr i="1"/>
              <a:t>Advances in Performance Analysis</a:t>
            </a:r>
            <a:r>
              <a:rPr/>
              <a:t>, 2, 77-101.</a:t>
            </a:r>
          </a:p>
          <a:p>
            <a:pPr lvl="0" indent="0" marL="0">
              <a:buNone/>
            </a:pPr>
            <a:r>
              <a:rPr/>
              <a:t>[35] Paxson, V. (1997). “Fast, Approximate Synthesis of Fractional Gaussian Noise for Generating Self-Similar Network Traffic.” </a:t>
            </a:r>
            <a:r>
              <a:rPr i="1"/>
              <a:t>Computer Communication Review</a:t>
            </a:r>
            <a:r>
              <a:rPr/>
              <a:t>, 27, 5-18.</a:t>
            </a:r>
          </a:p>
          <a:p>
            <a:pPr lvl="0" indent="0" marL="0">
              <a:buNone/>
            </a:pPr>
            <a:r>
              <a:rPr/>
              <a:t>[36] Bender, C. (2003). “An S-Transform approach to integration with respect to a Fractional Brownian Motion.” </a:t>
            </a:r>
            <a:r>
              <a:rPr i="1"/>
              <a:t>Bernoulli</a:t>
            </a:r>
            <a:r>
              <a:rPr/>
              <a:t>, 9, 955-983.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Fractional Brownian Motions in Financial Models and Their Monte Carlo Simulation</dc:title>
  <dc:creator>Neil Mascarenhas</dc:creator>
  <cp:keywords/>
  <dcterms:created xsi:type="dcterms:W3CDTF">2025-12-28T22:37:11Z</dcterms:created>
  <dcterms:modified xsi:type="dcterms:W3CDTF">2025-12-28T22:37:11Z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2025-10-27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Kijima &amp; Tam (2013)</vt:lpwstr>
  </property>
  <property fmtid="{D5CDD505-2E9C-101B-9397-08002B2CF9AE}" pid="12" name="toc-title">
    <vt:lpwstr>Table of contents</vt:lpwstr>
  </property>
</Properties>
</file>